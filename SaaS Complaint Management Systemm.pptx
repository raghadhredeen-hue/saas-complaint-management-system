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  <p:sldMasterId id="2147483684" r:id="rId2"/>
  </p:sldMasterIdLst>
  <p:notesMasterIdLst>
    <p:notesMasterId r:id="rId17"/>
  </p:notesMasterIdLst>
  <p:handoutMasterIdLst>
    <p:handoutMasterId r:id="rId18"/>
  </p:handoutMasterIdLst>
  <p:sldIdLst>
    <p:sldId id="256" r:id="rId3"/>
    <p:sldId id="265" r:id="rId4"/>
    <p:sldId id="259" r:id="rId5"/>
    <p:sldId id="292" r:id="rId6"/>
    <p:sldId id="329" r:id="rId7"/>
    <p:sldId id="273" r:id="rId8"/>
    <p:sldId id="272" r:id="rId9"/>
    <p:sldId id="326" r:id="rId10"/>
    <p:sldId id="258" r:id="rId11"/>
    <p:sldId id="330" r:id="rId12"/>
    <p:sldId id="328" r:id="rId13"/>
    <p:sldId id="327" r:id="rId14"/>
    <p:sldId id="260" r:id="rId15"/>
    <p:sldId id="325" r:id="rId16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Proxima Nova Semibold" panose="020B0604020202020204" charset="0"/>
      <p:regular r:id="rId23"/>
      <p:bold r:id="rId24"/>
      <p:boldItalic r:id="rId25"/>
    </p:embeddedFont>
    <p:embeddedFont>
      <p:font typeface="Imprint MT Shadow" panose="04020605060303030202" pitchFamily="82" charset="0"/>
      <p:regular r:id="rId26"/>
    </p:embeddedFont>
    <p:embeddedFont>
      <p:font typeface="Baloo Paaji 2" panose="020B0604020202020204" charset="0"/>
      <p:regular r:id="rId27"/>
      <p:bold r:id="rId28"/>
    </p:embeddedFont>
    <p:embeddedFont>
      <p:font typeface="Proxima Nova" panose="020B060402020202020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2555"/>
    <a:srgbClr val="84BFDC"/>
    <a:srgbClr val="DBE1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D2B1C80-A054-44BF-9762-63EE74661326}">
  <a:tblStyle styleId="{7D2B1C80-A054-44BF-9762-63EE7466132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482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94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26" Type="http://schemas.openxmlformats.org/officeDocument/2006/relationships/font" Target="fonts/font8.fntdata"/><Relationship Id="rId3" Type="http://schemas.openxmlformats.org/officeDocument/2006/relationships/slide" Target="slides/slide1.xml"/><Relationship Id="rId21" Type="http://schemas.openxmlformats.org/officeDocument/2006/relationships/font" Target="fonts/font3.fntdata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7.fntdata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>
            <a:extLst>
              <a:ext uri="{FF2B5EF4-FFF2-40B4-BE49-F238E27FC236}">
                <a16:creationId xmlns="" xmlns:a16="http://schemas.microsoft.com/office/drawing/2014/main" id="{65A8AC3F-1F12-6866-01A7-CBCEA26C407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="" xmlns:a16="http://schemas.microsoft.com/office/drawing/2014/main" id="{BEF54457-9D09-55F7-3DBE-FEE0651AA54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BE9E0E95-A401-4E46-B7DE-4982324D59C6}" type="datetimeFigureOut">
              <a:rPr lang="ar-SA" smtClean="0"/>
              <a:t>17/05/1448</a:t>
            </a:fld>
            <a:endParaRPr lang="ar-SA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="" xmlns:a16="http://schemas.microsoft.com/office/drawing/2014/main" id="{57F2BCD8-1CBC-B691-C0DC-01E3C269C50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="" xmlns:a16="http://schemas.microsoft.com/office/drawing/2014/main" id="{A4D42F92-CE94-C2AA-5B03-6DC555E2000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EDCBDDD0-901A-4FD6-8087-039864D5080A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02698407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75437327"/>
      </p:ext>
    </p:extLst>
  </p:cSld>
  <p:clrMap bg1="lt1" tx1="dk1" bg2="dk2" tx2="lt2" accent1="accent1" accent2="accent2" accent3="accent3" accent4="accent4" accent5="accent5" accent6="accent6" hlink="hlink" folHlink="folHlink"/>
  <p:hf hd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0488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1056fb6f086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1056fb6f086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71377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056fb6f086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1056fb6f086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06900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106d1fe3226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g106d1fe3226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62098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106d1fe3226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g106d1fe3226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96338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106af14bf53_0_3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106af14bf53_0_3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163259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106af14bf53_0_2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106af14bf53_0_2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54644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>
          <a:extLst>
            <a:ext uri="{FF2B5EF4-FFF2-40B4-BE49-F238E27FC236}">
              <a16:creationId xmlns="" xmlns:a16="http://schemas.microsoft.com/office/drawing/2014/main" id="{41B8481F-0983-5AA0-D36C-BB3EE1237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1056fb6f086_0_7:notes">
            <a:extLst>
              <a:ext uri="{FF2B5EF4-FFF2-40B4-BE49-F238E27FC236}">
                <a16:creationId xmlns="" xmlns:a16="http://schemas.microsoft.com/office/drawing/2014/main" id="{4CC29A67-5D3F-5E0F-336F-E82F9B242A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1056fb6f086_0_7:notes">
            <a:extLst>
              <a:ext uri="{FF2B5EF4-FFF2-40B4-BE49-F238E27FC236}">
                <a16:creationId xmlns="" xmlns:a16="http://schemas.microsoft.com/office/drawing/2014/main" id="{89A0587E-2487-7710-C410-08E6990825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76001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1056fb6f086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1056fb6f086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38559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003bd6ff09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1003bd6ff09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08969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2" name="Google Shape;8942;g106d1fe3226_0_194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43" name="Google Shape;8943;g106d1fe3226_0_194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8363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flipH="1">
            <a:off x="4572025" y="-12600"/>
            <a:ext cx="5118000" cy="1232100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4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621150" y="1537274"/>
            <a:ext cx="7901700" cy="2083800"/>
          </a:xfrm>
          <a:prstGeom prst="round2DiagRect">
            <a:avLst>
              <a:gd name="adj1" fmla="val 35721"/>
              <a:gd name="adj2" fmla="val 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rot="10800000">
            <a:off x="-190125" y="-45575"/>
            <a:ext cx="1791250" cy="866650"/>
          </a:xfrm>
          <a:custGeom>
            <a:avLst/>
            <a:gdLst/>
            <a:ahLst/>
            <a:cxnLst/>
            <a:rect l="l" t="t" r="r" b="b"/>
            <a:pathLst>
              <a:path w="71650" h="34666" extrusionOk="0">
                <a:moveTo>
                  <a:pt x="13823" y="1"/>
                </a:moveTo>
                <a:cubicBezTo>
                  <a:pt x="6175" y="1"/>
                  <a:pt x="1" y="6175"/>
                  <a:pt x="1" y="13823"/>
                </a:cubicBezTo>
                <a:lnTo>
                  <a:pt x="1" y="34666"/>
                </a:lnTo>
                <a:lnTo>
                  <a:pt x="12381" y="34666"/>
                </a:lnTo>
                <a:lnTo>
                  <a:pt x="12381" y="15892"/>
                </a:lnTo>
                <a:cubicBezTo>
                  <a:pt x="12381" y="13948"/>
                  <a:pt x="13948" y="12381"/>
                  <a:pt x="15892" y="12381"/>
                </a:cubicBezTo>
                <a:lnTo>
                  <a:pt x="71650" y="12381"/>
                </a:lnTo>
                <a:lnTo>
                  <a:pt x="71650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 flipH="1">
            <a:off x="-520025" y="3922700"/>
            <a:ext cx="6996600" cy="1232100"/>
          </a:xfrm>
          <a:prstGeom prst="round2DiagRect">
            <a:avLst>
              <a:gd name="adj1" fmla="val 47368"/>
              <a:gd name="adj2" fmla="val 0"/>
            </a:avLst>
          </a:prstGeom>
          <a:gradFill>
            <a:gsLst>
              <a:gs pos="0">
                <a:schemeClr val="accent4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3626625" y="-99712"/>
            <a:ext cx="1890750" cy="835300"/>
          </a:xfrm>
          <a:custGeom>
            <a:avLst/>
            <a:gdLst/>
            <a:ahLst/>
            <a:cxnLst/>
            <a:rect l="l" t="t" r="r" b="b"/>
            <a:pathLst>
              <a:path w="75630" h="33412" extrusionOk="0">
                <a:moveTo>
                  <a:pt x="75630" y="0"/>
                </a:moveTo>
                <a:lnTo>
                  <a:pt x="58109" y="0"/>
                </a:lnTo>
                <a:lnTo>
                  <a:pt x="40307" y="17803"/>
                </a:lnTo>
                <a:cubicBezTo>
                  <a:pt x="38927" y="19182"/>
                  <a:pt x="36702" y="19182"/>
                  <a:pt x="35323" y="17803"/>
                </a:cubicBezTo>
                <a:lnTo>
                  <a:pt x="17520" y="0"/>
                </a:lnTo>
                <a:lnTo>
                  <a:pt x="0" y="0"/>
                </a:lnTo>
                <a:lnTo>
                  <a:pt x="0" y="0"/>
                </a:lnTo>
                <a:lnTo>
                  <a:pt x="31" y="0"/>
                </a:lnTo>
                <a:lnTo>
                  <a:pt x="28052" y="28020"/>
                </a:lnTo>
                <a:cubicBezTo>
                  <a:pt x="33442" y="33411"/>
                  <a:pt x="42187" y="33411"/>
                  <a:pt x="47578" y="2802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 rot="10800000" flipH="1">
            <a:off x="8116450" y="4422738"/>
            <a:ext cx="1890750" cy="835300"/>
          </a:xfrm>
          <a:custGeom>
            <a:avLst/>
            <a:gdLst/>
            <a:ahLst/>
            <a:cxnLst/>
            <a:rect l="l" t="t" r="r" b="b"/>
            <a:pathLst>
              <a:path w="75630" h="33412" extrusionOk="0">
                <a:moveTo>
                  <a:pt x="75630" y="0"/>
                </a:moveTo>
                <a:lnTo>
                  <a:pt x="58109" y="0"/>
                </a:lnTo>
                <a:lnTo>
                  <a:pt x="40307" y="17803"/>
                </a:lnTo>
                <a:cubicBezTo>
                  <a:pt x="38927" y="19182"/>
                  <a:pt x="36702" y="19182"/>
                  <a:pt x="35323" y="17803"/>
                </a:cubicBezTo>
                <a:lnTo>
                  <a:pt x="17520" y="0"/>
                </a:lnTo>
                <a:lnTo>
                  <a:pt x="0" y="0"/>
                </a:lnTo>
                <a:lnTo>
                  <a:pt x="0" y="0"/>
                </a:lnTo>
                <a:lnTo>
                  <a:pt x="31" y="0"/>
                </a:lnTo>
                <a:lnTo>
                  <a:pt x="28052" y="28020"/>
                </a:lnTo>
                <a:cubicBezTo>
                  <a:pt x="33442" y="33411"/>
                  <a:pt x="42187" y="33411"/>
                  <a:pt x="47578" y="2802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621100" y="1775013"/>
            <a:ext cx="7901700" cy="140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4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621100" y="3249421"/>
            <a:ext cx="7901700" cy="20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-520025" y="0"/>
            <a:ext cx="9042900" cy="1111800"/>
          </a:xfrm>
          <a:prstGeom prst="round2DiagRect">
            <a:avLst>
              <a:gd name="adj1" fmla="val 49665"/>
              <a:gd name="adj2" fmla="val 0"/>
            </a:avLst>
          </a:prstGeom>
          <a:gradFill>
            <a:gsLst>
              <a:gs pos="0">
                <a:schemeClr val="accent4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6"/>
          <p:cNvSpPr/>
          <p:nvPr/>
        </p:nvSpPr>
        <p:spPr>
          <a:xfrm>
            <a:off x="-51850" y="4845375"/>
            <a:ext cx="9273600" cy="298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6"/>
          <p:cNvSpPr/>
          <p:nvPr/>
        </p:nvSpPr>
        <p:spPr>
          <a:xfrm rot="10800000" flipH="1">
            <a:off x="8207350" y="4422738"/>
            <a:ext cx="1890750" cy="835300"/>
          </a:xfrm>
          <a:custGeom>
            <a:avLst/>
            <a:gdLst/>
            <a:ahLst/>
            <a:cxnLst/>
            <a:rect l="l" t="t" r="r" b="b"/>
            <a:pathLst>
              <a:path w="75630" h="33412" extrusionOk="0">
                <a:moveTo>
                  <a:pt x="75630" y="0"/>
                </a:moveTo>
                <a:lnTo>
                  <a:pt x="58109" y="0"/>
                </a:lnTo>
                <a:lnTo>
                  <a:pt x="40307" y="17803"/>
                </a:lnTo>
                <a:cubicBezTo>
                  <a:pt x="38927" y="19182"/>
                  <a:pt x="36702" y="19182"/>
                  <a:pt x="35323" y="17803"/>
                </a:cubicBezTo>
                <a:lnTo>
                  <a:pt x="17520" y="0"/>
                </a:lnTo>
                <a:lnTo>
                  <a:pt x="0" y="0"/>
                </a:lnTo>
                <a:lnTo>
                  <a:pt x="0" y="0"/>
                </a:lnTo>
                <a:lnTo>
                  <a:pt x="31" y="0"/>
                </a:lnTo>
                <a:lnTo>
                  <a:pt x="28052" y="28020"/>
                </a:lnTo>
                <a:cubicBezTo>
                  <a:pt x="33442" y="33411"/>
                  <a:pt x="42187" y="33411"/>
                  <a:pt x="47578" y="2802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621100" y="348725"/>
            <a:ext cx="7901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1964575" y="1169250"/>
            <a:ext cx="5214900" cy="148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ubTitle" idx="1"/>
          </p:nvPr>
        </p:nvSpPr>
        <p:spPr>
          <a:xfrm>
            <a:off x="1964525" y="2739150"/>
            <a:ext cx="5214900" cy="123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1" name="Google Shape;61;p9"/>
          <p:cNvSpPr/>
          <p:nvPr/>
        </p:nvSpPr>
        <p:spPr>
          <a:xfrm>
            <a:off x="-51850" y="0"/>
            <a:ext cx="9273600" cy="298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9"/>
          <p:cNvSpPr/>
          <p:nvPr/>
        </p:nvSpPr>
        <p:spPr>
          <a:xfrm>
            <a:off x="-969700" y="-83462"/>
            <a:ext cx="1890750" cy="835300"/>
          </a:xfrm>
          <a:custGeom>
            <a:avLst/>
            <a:gdLst/>
            <a:ahLst/>
            <a:cxnLst/>
            <a:rect l="l" t="t" r="r" b="b"/>
            <a:pathLst>
              <a:path w="75630" h="33412" extrusionOk="0">
                <a:moveTo>
                  <a:pt x="75630" y="0"/>
                </a:moveTo>
                <a:lnTo>
                  <a:pt x="58109" y="0"/>
                </a:lnTo>
                <a:lnTo>
                  <a:pt x="40307" y="17803"/>
                </a:lnTo>
                <a:cubicBezTo>
                  <a:pt x="38927" y="19182"/>
                  <a:pt x="36702" y="19182"/>
                  <a:pt x="35323" y="17803"/>
                </a:cubicBezTo>
                <a:lnTo>
                  <a:pt x="17520" y="0"/>
                </a:lnTo>
                <a:lnTo>
                  <a:pt x="0" y="0"/>
                </a:lnTo>
                <a:lnTo>
                  <a:pt x="0" y="0"/>
                </a:lnTo>
                <a:lnTo>
                  <a:pt x="31" y="0"/>
                </a:lnTo>
                <a:lnTo>
                  <a:pt x="28052" y="28020"/>
                </a:lnTo>
                <a:cubicBezTo>
                  <a:pt x="33442" y="33411"/>
                  <a:pt x="42187" y="33411"/>
                  <a:pt x="47578" y="2802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9"/>
          <p:cNvSpPr/>
          <p:nvPr/>
        </p:nvSpPr>
        <p:spPr>
          <a:xfrm>
            <a:off x="7486650" y="4315525"/>
            <a:ext cx="1791250" cy="866650"/>
          </a:xfrm>
          <a:custGeom>
            <a:avLst/>
            <a:gdLst/>
            <a:ahLst/>
            <a:cxnLst/>
            <a:rect l="l" t="t" r="r" b="b"/>
            <a:pathLst>
              <a:path w="71650" h="34666" extrusionOk="0">
                <a:moveTo>
                  <a:pt x="13823" y="1"/>
                </a:moveTo>
                <a:cubicBezTo>
                  <a:pt x="6175" y="1"/>
                  <a:pt x="1" y="6175"/>
                  <a:pt x="1" y="13823"/>
                </a:cubicBezTo>
                <a:lnTo>
                  <a:pt x="1" y="34666"/>
                </a:lnTo>
                <a:lnTo>
                  <a:pt x="12381" y="34666"/>
                </a:lnTo>
                <a:lnTo>
                  <a:pt x="12381" y="15892"/>
                </a:lnTo>
                <a:cubicBezTo>
                  <a:pt x="12381" y="13948"/>
                  <a:pt x="13948" y="12381"/>
                  <a:pt x="15892" y="12381"/>
                </a:cubicBezTo>
                <a:lnTo>
                  <a:pt x="71650" y="12381"/>
                </a:lnTo>
                <a:lnTo>
                  <a:pt x="71650" y="1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accent1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9"/>
          <p:cNvSpPr/>
          <p:nvPr/>
        </p:nvSpPr>
        <p:spPr>
          <a:xfrm rot="10800000" flipH="1">
            <a:off x="-520025" y="4315525"/>
            <a:ext cx="6996600" cy="1232100"/>
          </a:xfrm>
          <a:prstGeom prst="round2DiagRect">
            <a:avLst>
              <a:gd name="adj1" fmla="val 47368"/>
              <a:gd name="adj2" fmla="val 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/>
          <p:nvPr/>
        </p:nvSpPr>
        <p:spPr>
          <a:xfrm>
            <a:off x="-905450" y="0"/>
            <a:ext cx="5721300" cy="1773600"/>
          </a:xfrm>
          <a:prstGeom prst="round2DiagRect">
            <a:avLst>
              <a:gd name="adj1" fmla="val 49665"/>
              <a:gd name="adj2" fmla="val 0"/>
            </a:avLst>
          </a:prstGeom>
          <a:gradFill>
            <a:gsLst>
              <a:gs pos="0">
                <a:schemeClr val="accent4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621100" y="504700"/>
            <a:ext cx="3742200" cy="8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3300" b="1">
                <a:solidFill>
                  <a:schemeClr val="dk2"/>
                </a:solidFill>
              </a:defRPr>
            </a:lvl1pPr>
          </a:lstStyle>
          <a:p>
            <a:endParaRPr/>
          </a:p>
        </p:txBody>
      </p:sp>
      <p:sp>
        <p:nvSpPr>
          <p:cNvPr id="68" name="Google Shape;68;p10"/>
          <p:cNvSpPr/>
          <p:nvPr/>
        </p:nvSpPr>
        <p:spPr>
          <a:xfrm>
            <a:off x="7453325" y="4332350"/>
            <a:ext cx="1791250" cy="866650"/>
          </a:xfrm>
          <a:custGeom>
            <a:avLst/>
            <a:gdLst/>
            <a:ahLst/>
            <a:cxnLst/>
            <a:rect l="l" t="t" r="r" b="b"/>
            <a:pathLst>
              <a:path w="71650" h="34666" extrusionOk="0">
                <a:moveTo>
                  <a:pt x="13823" y="1"/>
                </a:moveTo>
                <a:cubicBezTo>
                  <a:pt x="6175" y="1"/>
                  <a:pt x="1" y="6175"/>
                  <a:pt x="1" y="13823"/>
                </a:cubicBezTo>
                <a:lnTo>
                  <a:pt x="1" y="34666"/>
                </a:lnTo>
                <a:lnTo>
                  <a:pt x="12381" y="34666"/>
                </a:lnTo>
                <a:lnTo>
                  <a:pt x="12381" y="15892"/>
                </a:lnTo>
                <a:cubicBezTo>
                  <a:pt x="12381" y="13948"/>
                  <a:pt x="13948" y="12381"/>
                  <a:pt x="15892" y="12381"/>
                </a:cubicBezTo>
                <a:lnTo>
                  <a:pt x="71650" y="12381"/>
                </a:lnTo>
                <a:lnTo>
                  <a:pt x="71650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3">
    <p:bg>
      <p:bgPr>
        <a:solidFill>
          <a:schemeClr val="dk1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/>
          <p:nvPr/>
        </p:nvSpPr>
        <p:spPr>
          <a:xfrm>
            <a:off x="3400100" y="2962750"/>
            <a:ext cx="5979900" cy="1111800"/>
          </a:xfrm>
          <a:prstGeom prst="round2DiagRect">
            <a:avLst>
              <a:gd name="adj1" fmla="val 49665"/>
              <a:gd name="adj2" fmla="val 0"/>
            </a:avLst>
          </a:prstGeom>
          <a:gradFill>
            <a:gsLst>
              <a:gs pos="0">
                <a:schemeClr val="accent4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title"/>
          </p:nvPr>
        </p:nvSpPr>
        <p:spPr>
          <a:xfrm>
            <a:off x="3557400" y="3252688"/>
            <a:ext cx="43602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1"/>
          </p:nvPr>
        </p:nvSpPr>
        <p:spPr>
          <a:xfrm>
            <a:off x="996550" y="1263325"/>
            <a:ext cx="6921000" cy="147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82" name="Google Shape;82;p13"/>
          <p:cNvSpPr/>
          <p:nvPr/>
        </p:nvSpPr>
        <p:spPr>
          <a:xfrm>
            <a:off x="8190775" y="-99712"/>
            <a:ext cx="1890750" cy="835300"/>
          </a:xfrm>
          <a:custGeom>
            <a:avLst/>
            <a:gdLst/>
            <a:ahLst/>
            <a:cxnLst/>
            <a:rect l="l" t="t" r="r" b="b"/>
            <a:pathLst>
              <a:path w="75630" h="33412" extrusionOk="0">
                <a:moveTo>
                  <a:pt x="75630" y="0"/>
                </a:moveTo>
                <a:lnTo>
                  <a:pt x="58109" y="0"/>
                </a:lnTo>
                <a:lnTo>
                  <a:pt x="40307" y="17803"/>
                </a:lnTo>
                <a:cubicBezTo>
                  <a:pt x="38927" y="19182"/>
                  <a:pt x="36702" y="19182"/>
                  <a:pt x="35323" y="17803"/>
                </a:cubicBezTo>
                <a:lnTo>
                  <a:pt x="17520" y="0"/>
                </a:lnTo>
                <a:lnTo>
                  <a:pt x="0" y="0"/>
                </a:lnTo>
                <a:lnTo>
                  <a:pt x="0" y="0"/>
                </a:lnTo>
                <a:lnTo>
                  <a:pt x="31" y="0"/>
                </a:lnTo>
                <a:lnTo>
                  <a:pt x="28052" y="28020"/>
                </a:lnTo>
                <a:cubicBezTo>
                  <a:pt x="33442" y="33411"/>
                  <a:pt x="42187" y="33411"/>
                  <a:pt x="47578" y="2802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3"/>
          <p:cNvSpPr/>
          <p:nvPr/>
        </p:nvSpPr>
        <p:spPr>
          <a:xfrm rot="10800000">
            <a:off x="-190125" y="-45575"/>
            <a:ext cx="1791250" cy="866650"/>
          </a:xfrm>
          <a:custGeom>
            <a:avLst/>
            <a:gdLst/>
            <a:ahLst/>
            <a:cxnLst/>
            <a:rect l="l" t="t" r="r" b="b"/>
            <a:pathLst>
              <a:path w="71650" h="34666" extrusionOk="0">
                <a:moveTo>
                  <a:pt x="13823" y="1"/>
                </a:moveTo>
                <a:cubicBezTo>
                  <a:pt x="6175" y="1"/>
                  <a:pt x="1" y="6175"/>
                  <a:pt x="1" y="13823"/>
                </a:cubicBezTo>
                <a:lnTo>
                  <a:pt x="1" y="34666"/>
                </a:lnTo>
                <a:lnTo>
                  <a:pt x="12381" y="34666"/>
                </a:lnTo>
                <a:lnTo>
                  <a:pt x="12381" y="15892"/>
                </a:lnTo>
                <a:cubicBezTo>
                  <a:pt x="12381" y="13948"/>
                  <a:pt x="13948" y="12381"/>
                  <a:pt x="15892" y="12381"/>
                </a:cubicBezTo>
                <a:lnTo>
                  <a:pt x="71650" y="12381"/>
                </a:lnTo>
                <a:lnTo>
                  <a:pt x="71650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/>
          <p:nvPr/>
        </p:nvSpPr>
        <p:spPr>
          <a:xfrm>
            <a:off x="-520025" y="0"/>
            <a:ext cx="9042900" cy="1111800"/>
          </a:xfrm>
          <a:prstGeom prst="round2DiagRect">
            <a:avLst>
              <a:gd name="adj1" fmla="val 49665"/>
              <a:gd name="adj2" fmla="val 0"/>
            </a:avLst>
          </a:prstGeom>
          <a:gradFill>
            <a:gsLst>
              <a:gs pos="0">
                <a:schemeClr val="accent4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title"/>
          </p:nvPr>
        </p:nvSpPr>
        <p:spPr>
          <a:xfrm>
            <a:off x="621100" y="348725"/>
            <a:ext cx="7901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subTitle" idx="1"/>
          </p:nvPr>
        </p:nvSpPr>
        <p:spPr>
          <a:xfrm>
            <a:off x="4769956" y="1877250"/>
            <a:ext cx="34374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3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subTitle" idx="2"/>
          </p:nvPr>
        </p:nvSpPr>
        <p:spPr>
          <a:xfrm>
            <a:off x="5245606" y="2189425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subTitle" idx="3"/>
          </p:nvPr>
        </p:nvSpPr>
        <p:spPr>
          <a:xfrm>
            <a:off x="936638" y="1877250"/>
            <a:ext cx="34374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3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subTitle" idx="4"/>
          </p:nvPr>
        </p:nvSpPr>
        <p:spPr>
          <a:xfrm>
            <a:off x="1389638" y="2189425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subTitle" idx="5"/>
          </p:nvPr>
        </p:nvSpPr>
        <p:spPr>
          <a:xfrm>
            <a:off x="4769956" y="3545075"/>
            <a:ext cx="34374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3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subTitle" idx="6"/>
          </p:nvPr>
        </p:nvSpPr>
        <p:spPr>
          <a:xfrm>
            <a:off x="5245606" y="3857250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subTitle" idx="7"/>
          </p:nvPr>
        </p:nvSpPr>
        <p:spPr>
          <a:xfrm>
            <a:off x="936638" y="3545075"/>
            <a:ext cx="34374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3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subTitle" idx="8"/>
          </p:nvPr>
        </p:nvSpPr>
        <p:spPr>
          <a:xfrm>
            <a:off x="1389638" y="3857250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4"/>
          <p:cNvSpPr txBox="1">
            <a:spLocks noGrp="1"/>
          </p:cNvSpPr>
          <p:nvPr>
            <p:ph type="title" idx="9" hasCustomPrompt="1"/>
          </p:nvPr>
        </p:nvSpPr>
        <p:spPr>
          <a:xfrm>
            <a:off x="2089888" y="1294350"/>
            <a:ext cx="1039200" cy="58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8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6" name="Google Shape;96;p14"/>
          <p:cNvSpPr txBox="1">
            <a:spLocks noGrp="1"/>
          </p:cNvSpPr>
          <p:nvPr>
            <p:ph type="title" idx="13" hasCustomPrompt="1"/>
          </p:nvPr>
        </p:nvSpPr>
        <p:spPr>
          <a:xfrm>
            <a:off x="5969063" y="1294350"/>
            <a:ext cx="1039200" cy="58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8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7" name="Google Shape;97;p14"/>
          <p:cNvSpPr txBox="1">
            <a:spLocks noGrp="1"/>
          </p:cNvSpPr>
          <p:nvPr>
            <p:ph type="title" idx="14" hasCustomPrompt="1"/>
          </p:nvPr>
        </p:nvSpPr>
        <p:spPr>
          <a:xfrm>
            <a:off x="2089888" y="2962175"/>
            <a:ext cx="1039200" cy="58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8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8" name="Google Shape;98;p14"/>
          <p:cNvSpPr txBox="1">
            <a:spLocks noGrp="1"/>
          </p:cNvSpPr>
          <p:nvPr>
            <p:ph type="title" idx="15" hasCustomPrompt="1"/>
          </p:nvPr>
        </p:nvSpPr>
        <p:spPr>
          <a:xfrm>
            <a:off x="5969063" y="2962186"/>
            <a:ext cx="1039200" cy="58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8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9" name="Google Shape;99;p14"/>
          <p:cNvSpPr/>
          <p:nvPr/>
        </p:nvSpPr>
        <p:spPr>
          <a:xfrm>
            <a:off x="-51850" y="4845375"/>
            <a:ext cx="9273600" cy="298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4"/>
          <p:cNvSpPr/>
          <p:nvPr/>
        </p:nvSpPr>
        <p:spPr>
          <a:xfrm rot="10800000" flipH="1">
            <a:off x="8207350" y="4422738"/>
            <a:ext cx="1890750" cy="835300"/>
          </a:xfrm>
          <a:custGeom>
            <a:avLst/>
            <a:gdLst/>
            <a:ahLst/>
            <a:cxnLst/>
            <a:rect l="l" t="t" r="r" b="b"/>
            <a:pathLst>
              <a:path w="75630" h="33412" extrusionOk="0">
                <a:moveTo>
                  <a:pt x="75630" y="0"/>
                </a:moveTo>
                <a:lnTo>
                  <a:pt x="58109" y="0"/>
                </a:lnTo>
                <a:lnTo>
                  <a:pt x="40307" y="17803"/>
                </a:lnTo>
                <a:cubicBezTo>
                  <a:pt x="38927" y="19182"/>
                  <a:pt x="36702" y="19182"/>
                  <a:pt x="35323" y="17803"/>
                </a:cubicBezTo>
                <a:lnTo>
                  <a:pt x="17520" y="0"/>
                </a:lnTo>
                <a:lnTo>
                  <a:pt x="0" y="0"/>
                </a:lnTo>
                <a:lnTo>
                  <a:pt x="0" y="0"/>
                </a:lnTo>
                <a:lnTo>
                  <a:pt x="31" y="0"/>
                </a:lnTo>
                <a:lnTo>
                  <a:pt x="28052" y="28020"/>
                </a:lnTo>
                <a:cubicBezTo>
                  <a:pt x="33442" y="33411"/>
                  <a:pt x="42187" y="33411"/>
                  <a:pt x="47578" y="2802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4"/>
          <p:cNvSpPr/>
          <p:nvPr/>
        </p:nvSpPr>
        <p:spPr>
          <a:xfrm rot="-5400000">
            <a:off x="8345500" y="17225"/>
            <a:ext cx="815725" cy="781250"/>
          </a:xfrm>
          <a:custGeom>
            <a:avLst/>
            <a:gdLst/>
            <a:ahLst/>
            <a:cxnLst/>
            <a:rect l="l" t="t" r="r" b="b"/>
            <a:pathLst>
              <a:path w="32629" h="31250" extrusionOk="0">
                <a:moveTo>
                  <a:pt x="17208" y="1"/>
                </a:moveTo>
                <a:cubicBezTo>
                  <a:pt x="7711" y="1"/>
                  <a:pt x="1" y="7711"/>
                  <a:pt x="1" y="17208"/>
                </a:cubicBezTo>
                <a:lnTo>
                  <a:pt x="1" y="31249"/>
                </a:lnTo>
                <a:lnTo>
                  <a:pt x="15421" y="31249"/>
                </a:lnTo>
                <a:lnTo>
                  <a:pt x="15421" y="19809"/>
                </a:lnTo>
                <a:cubicBezTo>
                  <a:pt x="15421" y="17396"/>
                  <a:pt x="17396" y="15421"/>
                  <a:pt x="19809" y="15421"/>
                </a:cubicBezTo>
                <a:lnTo>
                  <a:pt x="32628" y="15421"/>
                </a:lnTo>
                <a:lnTo>
                  <a:pt x="32628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4"/>
          <p:cNvSpPr/>
          <p:nvPr/>
        </p:nvSpPr>
        <p:spPr>
          <a:xfrm rot="5400000">
            <a:off x="-17234" y="4345005"/>
            <a:ext cx="815725" cy="781250"/>
          </a:xfrm>
          <a:custGeom>
            <a:avLst/>
            <a:gdLst/>
            <a:ahLst/>
            <a:cxnLst/>
            <a:rect l="l" t="t" r="r" b="b"/>
            <a:pathLst>
              <a:path w="32629" h="31250" extrusionOk="0">
                <a:moveTo>
                  <a:pt x="17208" y="1"/>
                </a:moveTo>
                <a:cubicBezTo>
                  <a:pt x="7711" y="1"/>
                  <a:pt x="1" y="7711"/>
                  <a:pt x="1" y="17208"/>
                </a:cubicBezTo>
                <a:lnTo>
                  <a:pt x="1" y="31249"/>
                </a:lnTo>
                <a:lnTo>
                  <a:pt x="15421" y="31249"/>
                </a:lnTo>
                <a:lnTo>
                  <a:pt x="15421" y="19809"/>
                </a:lnTo>
                <a:cubicBezTo>
                  <a:pt x="15421" y="17396"/>
                  <a:pt x="17396" y="15421"/>
                  <a:pt x="19809" y="15421"/>
                </a:cubicBezTo>
                <a:lnTo>
                  <a:pt x="32628" y="15421"/>
                </a:lnTo>
                <a:lnTo>
                  <a:pt x="32628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1_1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/>
          <p:nvPr/>
        </p:nvSpPr>
        <p:spPr>
          <a:xfrm>
            <a:off x="-51850" y="4845375"/>
            <a:ext cx="9273600" cy="298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7"/>
          <p:cNvSpPr/>
          <p:nvPr/>
        </p:nvSpPr>
        <p:spPr>
          <a:xfrm>
            <a:off x="-520025" y="0"/>
            <a:ext cx="9042900" cy="1111800"/>
          </a:xfrm>
          <a:prstGeom prst="round2DiagRect">
            <a:avLst>
              <a:gd name="adj1" fmla="val 49665"/>
              <a:gd name="adj2" fmla="val 0"/>
            </a:avLst>
          </a:prstGeom>
          <a:gradFill>
            <a:gsLst>
              <a:gs pos="0">
                <a:schemeClr val="accent4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7"/>
          <p:cNvSpPr txBox="1">
            <a:spLocks noGrp="1"/>
          </p:cNvSpPr>
          <p:nvPr>
            <p:ph type="title"/>
          </p:nvPr>
        </p:nvSpPr>
        <p:spPr>
          <a:xfrm>
            <a:off x="621100" y="348725"/>
            <a:ext cx="7901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7"/>
          <p:cNvSpPr/>
          <p:nvPr/>
        </p:nvSpPr>
        <p:spPr>
          <a:xfrm>
            <a:off x="8206679" y="-51407"/>
            <a:ext cx="1890750" cy="835300"/>
          </a:xfrm>
          <a:custGeom>
            <a:avLst/>
            <a:gdLst/>
            <a:ahLst/>
            <a:cxnLst/>
            <a:rect l="l" t="t" r="r" b="b"/>
            <a:pathLst>
              <a:path w="75630" h="33412" extrusionOk="0">
                <a:moveTo>
                  <a:pt x="75630" y="0"/>
                </a:moveTo>
                <a:lnTo>
                  <a:pt x="58109" y="0"/>
                </a:lnTo>
                <a:lnTo>
                  <a:pt x="40307" y="17803"/>
                </a:lnTo>
                <a:cubicBezTo>
                  <a:pt x="38927" y="19182"/>
                  <a:pt x="36702" y="19182"/>
                  <a:pt x="35323" y="17803"/>
                </a:cubicBezTo>
                <a:lnTo>
                  <a:pt x="17520" y="0"/>
                </a:lnTo>
                <a:lnTo>
                  <a:pt x="0" y="0"/>
                </a:lnTo>
                <a:lnTo>
                  <a:pt x="0" y="0"/>
                </a:lnTo>
                <a:lnTo>
                  <a:pt x="31" y="0"/>
                </a:lnTo>
                <a:lnTo>
                  <a:pt x="28052" y="28020"/>
                </a:lnTo>
                <a:cubicBezTo>
                  <a:pt x="33442" y="33411"/>
                  <a:pt x="42187" y="33411"/>
                  <a:pt x="47578" y="2802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17"/>
          <p:cNvSpPr/>
          <p:nvPr/>
        </p:nvSpPr>
        <p:spPr>
          <a:xfrm rot="5400000">
            <a:off x="-17234" y="4345005"/>
            <a:ext cx="815725" cy="781250"/>
          </a:xfrm>
          <a:custGeom>
            <a:avLst/>
            <a:gdLst/>
            <a:ahLst/>
            <a:cxnLst/>
            <a:rect l="l" t="t" r="r" b="b"/>
            <a:pathLst>
              <a:path w="32629" h="31250" extrusionOk="0">
                <a:moveTo>
                  <a:pt x="17208" y="1"/>
                </a:moveTo>
                <a:cubicBezTo>
                  <a:pt x="7711" y="1"/>
                  <a:pt x="1" y="7711"/>
                  <a:pt x="1" y="17208"/>
                </a:cubicBezTo>
                <a:lnTo>
                  <a:pt x="1" y="31249"/>
                </a:lnTo>
                <a:lnTo>
                  <a:pt x="15421" y="31249"/>
                </a:lnTo>
                <a:lnTo>
                  <a:pt x="15421" y="19809"/>
                </a:lnTo>
                <a:cubicBezTo>
                  <a:pt x="15421" y="17396"/>
                  <a:pt x="17396" y="15421"/>
                  <a:pt x="19809" y="15421"/>
                </a:cubicBezTo>
                <a:lnTo>
                  <a:pt x="32628" y="15421"/>
                </a:lnTo>
                <a:lnTo>
                  <a:pt x="32628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2">
    <p:bg>
      <p:bgPr>
        <a:solidFill>
          <a:schemeClr val="dk1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2"/>
          <p:cNvSpPr/>
          <p:nvPr/>
        </p:nvSpPr>
        <p:spPr>
          <a:xfrm>
            <a:off x="621150" y="1685425"/>
            <a:ext cx="7901700" cy="1787400"/>
          </a:xfrm>
          <a:prstGeom prst="round2DiagRect">
            <a:avLst>
              <a:gd name="adj1" fmla="val 38774"/>
              <a:gd name="adj2" fmla="val 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32"/>
          <p:cNvSpPr/>
          <p:nvPr/>
        </p:nvSpPr>
        <p:spPr>
          <a:xfrm flipH="1">
            <a:off x="6257213" y="-1108600"/>
            <a:ext cx="3426300" cy="2328000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4"/>
              </a:gs>
              <a:gs pos="100000">
                <a:schemeClr val="accent1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32"/>
          <p:cNvSpPr/>
          <p:nvPr/>
        </p:nvSpPr>
        <p:spPr>
          <a:xfrm rot="10800000" flipH="1">
            <a:off x="-539512" y="3922700"/>
            <a:ext cx="6743100" cy="2328000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32"/>
          <p:cNvSpPr/>
          <p:nvPr/>
        </p:nvSpPr>
        <p:spPr>
          <a:xfrm>
            <a:off x="7417550" y="4315525"/>
            <a:ext cx="1791250" cy="866650"/>
          </a:xfrm>
          <a:custGeom>
            <a:avLst/>
            <a:gdLst/>
            <a:ahLst/>
            <a:cxnLst/>
            <a:rect l="l" t="t" r="r" b="b"/>
            <a:pathLst>
              <a:path w="71650" h="34666" extrusionOk="0">
                <a:moveTo>
                  <a:pt x="13823" y="1"/>
                </a:moveTo>
                <a:cubicBezTo>
                  <a:pt x="6175" y="1"/>
                  <a:pt x="1" y="6175"/>
                  <a:pt x="1" y="13823"/>
                </a:cubicBezTo>
                <a:lnTo>
                  <a:pt x="1" y="34666"/>
                </a:lnTo>
                <a:lnTo>
                  <a:pt x="12381" y="34666"/>
                </a:lnTo>
                <a:lnTo>
                  <a:pt x="12381" y="15892"/>
                </a:lnTo>
                <a:cubicBezTo>
                  <a:pt x="12381" y="13948"/>
                  <a:pt x="13948" y="12381"/>
                  <a:pt x="15892" y="12381"/>
                </a:cubicBezTo>
                <a:lnTo>
                  <a:pt x="71650" y="12381"/>
                </a:lnTo>
                <a:lnTo>
                  <a:pt x="71650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32"/>
          <p:cNvSpPr/>
          <p:nvPr/>
        </p:nvSpPr>
        <p:spPr>
          <a:xfrm rot="10800000">
            <a:off x="-233800" y="-38687"/>
            <a:ext cx="1791250" cy="866650"/>
          </a:xfrm>
          <a:custGeom>
            <a:avLst/>
            <a:gdLst/>
            <a:ahLst/>
            <a:cxnLst/>
            <a:rect l="l" t="t" r="r" b="b"/>
            <a:pathLst>
              <a:path w="71650" h="34666" extrusionOk="0">
                <a:moveTo>
                  <a:pt x="13823" y="1"/>
                </a:moveTo>
                <a:cubicBezTo>
                  <a:pt x="6175" y="1"/>
                  <a:pt x="1" y="6175"/>
                  <a:pt x="1" y="13823"/>
                </a:cubicBezTo>
                <a:lnTo>
                  <a:pt x="1" y="34666"/>
                </a:lnTo>
                <a:lnTo>
                  <a:pt x="12381" y="34666"/>
                </a:lnTo>
                <a:lnTo>
                  <a:pt x="12381" y="15892"/>
                </a:lnTo>
                <a:cubicBezTo>
                  <a:pt x="12381" y="13948"/>
                  <a:pt x="13948" y="12381"/>
                  <a:pt x="15892" y="12381"/>
                </a:cubicBezTo>
                <a:lnTo>
                  <a:pt x="71650" y="12381"/>
                </a:lnTo>
                <a:lnTo>
                  <a:pt x="71650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2_1"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3"/>
          <p:cNvSpPr/>
          <p:nvPr/>
        </p:nvSpPr>
        <p:spPr>
          <a:xfrm>
            <a:off x="-51850" y="4845375"/>
            <a:ext cx="9273600" cy="298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33"/>
          <p:cNvSpPr/>
          <p:nvPr/>
        </p:nvSpPr>
        <p:spPr>
          <a:xfrm>
            <a:off x="-520025" y="0"/>
            <a:ext cx="9042900" cy="1111800"/>
          </a:xfrm>
          <a:prstGeom prst="round2DiagRect">
            <a:avLst>
              <a:gd name="adj1" fmla="val 49665"/>
              <a:gd name="adj2" fmla="val 0"/>
            </a:avLst>
          </a:prstGeom>
          <a:gradFill>
            <a:gsLst>
              <a:gs pos="0">
                <a:schemeClr val="accent4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33"/>
          <p:cNvSpPr/>
          <p:nvPr/>
        </p:nvSpPr>
        <p:spPr>
          <a:xfrm rot="10800000" flipH="1">
            <a:off x="-958746" y="4308193"/>
            <a:ext cx="1890750" cy="835300"/>
          </a:xfrm>
          <a:custGeom>
            <a:avLst/>
            <a:gdLst/>
            <a:ahLst/>
            <a:cxnLst/>
            <a:rect l="l" t="t" r="r" b="b"/>
            <a:pathLst>
              <a:path w="75630" h="33412" extrusionOk="0">
                <a:moveTo>
                  <a:pt x="75630" y="0"/>
                </a:moveTo>
                <a:lnTo>
                  <a:pt x="58109" y="0"/>
                </a:lnTo>
                <a:lnTo>
                  <a:pt x="40307" y="17803"/>
                </a:lnTo>
                <a:cubicBezTo>
                  <a:pt x="38927" y="19182"/>
                  <a:pt x="36702" y="19182"/>
                  <a:pt x="35323" y="17803"/>
                </a:cubicBezTo>
                <a:lnTo>
                  <a:pt x="17520" y="0"/>
                </a:lnTo>
                <a:lnTo>
                  <a:pt x="0" y="0"/>
                </a:lnTo>
                <a:lnTo>
                  <a:pt x="0" y="0"/>
                </a:lnTo>
                <a:lnTo>
                  <a:pt x="31" y="0"/>
                </a:lnTo>
                <a:lnTo>
                  <a:pt x="28052" y="28020"/>
                </a:lnTo>
                <a:cubicBezTo>
                  <a:pt x="33442" y="33411"/>
                  <a:pt x="42187" y="33411"/>
                  <a:pt x="47578" y="2802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33"/>
          <p:cNvSpPr/>
          <p:nvPr/>
        </p:nvSpPr>
        <p:spPr>
          <a:xfrm rot="10800000" flipH="1">
            <a:off x="7627275" y="-45575"/>
            <a:ext cx="1791250" cy="866650"/>
          </a:xfrm>
          <a:custGeom>
            <a:avLst/>
            <a:gdLst/>
            <a:ahLst/>
            <a:cxnLst/>
            <a:rect l="l" t="t" r="r" b="b"/>
            <a:pathLst>
              <a:path w="71650" h="34666" extrusionOk="0">
                <a:moveTo>
                  <a:pt x="13823" y="1"/>
                </a:moveTo>
                <a:cubicBezTo>
                  <a:pt x="6175" y="1"/>
                  <a:pt x="1" y="6175"/>
                  <a:pt x="1" y="13823"/>
                </a:cubicBezTo>
                <a:lnTo>
                  <a:pt x="1" y="34666"/>
                </a:lnTo>
                <a:lnTo>
                  <a:pt x="12381" y="34666"/>
                </a:lnTo>
                <a:lnTo>
                  <a:pt x="12381" y="15892"/>
                </a:lnTo>
                <a:cubicBezTo>
                  <a:pt x="12381" y="13948"/>
                  <a:pt x="13948" y="12381"/>
                  <a:pt x="15892" y="12381"/>
                </a:cubicBezTo>
                <a:lnTo>
                  <a:pt x="71650" y="12381"/>
                </a:lnTo>
                <a:lnTo>
                  <a:pt x="71650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2_1_1">
    <p:bg>
      <p:bgPr>
        <a:solidFill>
          <a:schemeClr val="dk1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4"/>
          <p:cNvSpPr/>
          <p:nvPr/>
        </p:nvSpPr>
        <p:spPr>
          <a:xfrm flipH="1">
            <a:off x="4572025" y="-228300"/>
            <a:ext cx="5118000" cy="1232100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4"/>
              </a:gs>
              <a:gs pos="100000">
                <a:schemeClr val="accent1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34"/>
          <p:cNvSpPr/>
          <p:nvPr/>
        </p:nvSpPr>
        <p:spPr>
          <a:xfrm rot="10800000">
            <a:off x="-190125" y="-45575"/>
            <a:ext cx="1791250" cy="866650"/>
          </a:xfrm>
          <a:custGeom>
            <a:avLst/>
            <a:gdLst/>
            <a:ahLst/>
            <a:cxnLst/>
            <a:rect l="l" t="t" r="r" b="b"/>
            <a:pathLst>
              <a:path w="71650" h="34666" extrusionOk="0">
                <a:moveTo>
                  <a:pt x="13823" y="1"/>
                </a:moveTo>
                <a:cubicBezTo>
                  <a:pt x="6175" y="1"/>
                  <a:pt x="1" y="6175"/>
                  <a:pt x="1" y="13823"/>
                </a:cubicBezTo>
                <a:lnTo>
                  <a:pt x="1" y="34666"/>
                </a:lnTo>
                <a:lnTo>
                  <a:pt x="12381" y="34666"/>
                </a:lnTo>
                <a:lnTo>
                  <a:pt x="12381" y="15892"/>
                </a:lnTo>
                <a:cubicBezTo>
                  <a:pt x="12381" y="13948"/>
                  <a:pt x="13948" y="12381"/>
                  <a:pt x="15892" y="12381"/>
                </a:cubicBezTo>
                <a:lnTo>
                  <a:pt x="71650" y="12381"/>
                </a:lnTo>
                <a:lnTo>
                  <a:pt x="71650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34"/>
          <p:cNvSpPr/>
          <p:nvPr/>
        </p:nvSpPr>
        <p:spPr>
          <a:xfrm rot="10800000">
            <a:off x="3626625" y="4424338"/>
            <a:ext cx="1890750" cy="835300"/>
          </a:xfrm>
          <a:custGeom>
            <a:avLst/>
            <a:gdLst/>
            <a:ahLst/>
            <a:cxnLst/>
            <a:rect l="l" t="t" r="r" b="b"/>
            <a:pathLst>
              <a:path w="75630" h="33412" extrusionOk="0">
                <a:moveTo>
                  <a:pt x="75630" y="0"/>
                </a:moveTo>
                <a:lnTo>
                  <a:pt x="58109" y="0"/>
                </a:lnTo>
                <a:lnTo>
                  <a:pt x="40307" y="17803"/>
                </a:lnTo>
                <a:cubicBezTo>
                  <a:pt x="38927" y="19182"/>
                  <a:pt x="36702" y="19182"/>
                  <a:pt x="35323" y="17803"/>
                </a:cubicBezTo>
                <a:lnTo>
                  <a:pt x="17520" y="0"/>
                </a:lnTo>
                <a:lnTo>
                  <a:pt x="0" y="0"/>
                </a:lnTo>
                <a:lnTo>
                  <a:pt x="0" y="0"/>
                </a:lnTo>
                <a:lnTo>
                  <a:pt x="31" y="0"/>
                </a:lnTo>
                <a:lnTo>
                  <a:pt x="28052" y="28020"/>
                </a:lnTo>
                <a:cubicBezTo>
                  <a:pt x="33442" y="33411"/>
                  <a:pt x="42187" y="33411"/>
                  <a:pt x="47578" y="2802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21100" y="348725"/>
            <a:ext cx="7901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Baloo Paaji 2"/>
              <a:buNone/>
              <a:defRPr sz="3300" b="1">
                <a:solidFill>
                  <a:schemeClr val="dk2"/>
                </a:solidFill>
                <a:latin typeface="Baloo Paaji 2"/>
                <a:ea typeface="Baloo Paaji 2"/>
                <a:cs typeface="Baloo Paaji 2"/>
                <a:sym typeface="Baloo Paaji 2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Baloo Paaji 2"/>
              <a:buNone/>
              <a:defRPr sz="3300" b="1">
                <a:solidFill>
                  <a:schemeClr val="dk2"/>
                </a:solidFill>
                <a:latin typeface="Baloo Paaji 2"/>
                <a:ea typeface="Baloo Paaji 2"/>
                <a:cs typeface="Baloo Paaji 2"/>
                <a:sym typeface="Baloo Paaji 2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Baloo Paaji 2"/>
              <a:buNone/>
              <a:defRPr sz="3300" b="1">
                <a:solidFill>
                  <a:schemeClr val="dk2"/>
                </a:solidFill>
                <a:latin typeface="Baloo Paaji 2"/>
                <a:ea typeface="Baloo Paaji 2"/>
                <a:cs typeface="Baloo Paaji 2"/>
                <a:sym typeface="Baloo Paaji 2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Baloo Paaji 2"/>
              <a:buNone/>
              <a:defRPr sz="3300" b="1">
                <a:solidFill>
                  <a:schemeClr val="dk2"/>
                </a:solidFill>
                <a:latin typeface="Baloo Paaji 2"/>
                <a:ea typeface="Baloo Paaji 2"/>
                <a:cs typeface="Baloo Paaji 2"/>
                <a:sym typeface="Baloo Paaji 2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Baloo Paaji 2"/>
              <a:buNone/>
              <a:defRPr sz="3300" b="1">
                <a:solidFill>
                  <a:schemeClr val="dk2"/>
                </a:solidFill>
                <a:latin typeface="Baloo Paaji 2"/>
                <a:ea typeface="Baloo Paaji 2"/>
                <a:cs typeface="Baloo Paaji 2"/>
                <a:sym typeface="Baloo Paaji 2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Baloo Paaji 2"/>
              <a:buNone/>
              <a:defRPr sz="3300" b="1">
                <a:solidFill>
                  <a:schemeClr val="dk2"/>
                </a:solidFill>
                <a:latin typeface="Baloo Paaji 2"/>
                <a:ea typeface="Baloo Paaji 2"/>
                <a:cs typeface="Baloo Paaji 2"/>
                <a:sym typeface="Baloo Paaji 2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Baloo Paaji 2"/>
              <a:buNone/>
              <a:defRPr sz="3300" b="1">
                <a:solidFill>
                  <a:schemeClr val="dk2"/>
                </a:solidFill>
                <a:latin typeface="Baloo Paaji 2"/>
                <a:ea typeface="Baloo Paaji 2"/>
                <a:cs typeface="Baloo Paaji 2"/>
                <a:sym typeface="Baloo Paaji 2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Baloo Paaji 2"/>
              <a:buNone/>
              <a:defRPr sz="3300" b="1">
                <a:solidFill>
                  <a:schemeClr val="dk2"/>
                </a:solidFill>
                <a:latin typeface="Baloo Paaji 2"/>
                <a:ea typeface="Baloo Paaji 2"/>
                <a:cs typeface="Baloo Paaji 2"/>
                <a:sym typeface="Baloo Paaji 2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Baloo Paaji 2"/>
              <a:buNone/>
              <a:defRPr sz="3300" b="1">
                <a:solidFill>
                  <a:schemeClr val="dk2"/>
                </a:solidFill>
                <a:latin typeface="Baloo Paaji 2"/>
                <a:ea typeface="Baloo Paaji 2"/>
                <a:cs typeface="Baloo Paaji 2"/>
                <a:sym typeface="Baloo Paaji 2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21100" y="1152475"/>
            <a:ext cx="7901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loo Paaji 2"/>
              <a:buChar char="●"/>
              <a:defRPr sz="1600">
                <a:solidFill>
                  <a:schemeClr val="lt1"/>
                </a:solidFill>
                <a:latin typeface="Baloo Paaji 2"/>
                <a:ea typeface="Baloo Paaji 2"/>
                <a:cs typeface="Baloo Paaji 2"/>
                <a:sym typeface="Baloo Paaji 2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loo Paaji 2"/>
              <a:buChar char="○"/>
              <a:defRPr sz="1600">
                <a:solidFill>
                  <a:schemeClr val="lt1"/>
                </a:solidFill>
                <a:latin typeface="Baloo Paaji 2"/>
                <a:ea typeface="Baloo Paaji 2"/>
                <a:cs typeface="Baloo Paaji 2"/>
                <a:sym typeface="Baloo Paaji 2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loo Paaji 2"/>
              <a:buChar char="■"/>
              <a:defRPr sz="1600">
                <a:solidFill>
                  <a:schemeClr val="lt1"/>
                </a:solidFill>
                <a:latin typeface="Baloo Paaji 2"/>
                <a:ea typeface="Baloo Paaji 2"/>
                <a:cs typeface="Baloo Paaji 2"/>
                <a:sym typeface="Baloo Paaji 2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loo Paaji 2"/>
              <a:buChar char="●"/>
              <a:defRPr sz="1600">
                <a:solidFill>
                  <a:schemeClr val="lt1"/>
                </a:solidFill>
                <a:latin typeface="Baloo Paaji 2"/>
                <a:ea typeface="Baloo Paaji 2"/>
                <a:cs typeface="Baloo Paaji 2"/>
                <a:sym typeface="Baloo Paaji 2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loo Paaji 2"/>
              <a:buChar char="○"/>
              <a:defRPr sz="1600">
                <a:solidFill>
                  <a:schemeClr val="lt1"/>
                </a:solidFill>
                <a:latin typeface="Baloo Paaji 2"/>
                <a:ea typeface="Baloo Paaji 2"/>
                <a:cs typeface="Baloo Paaji 2"/>
                <a:sym typeface="Baloo Paaji 2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loo Paaji 2"/>
              <a:buChar char="■"/>
              <a:defRPr sz="1600">
                <a:solidFill>
                  <a:schemeClr val="lt1"/>
                </a:solidFill>
                <a:latin typeface="Baloo Paaji 2"/>
                <a:ea typeface="Baloo Paaji 2"/>
                <a:cs typeface="Baloo Paaji 2"/>
                <a:sym typeface="Baloo Paaji 2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loo Paaji 2"/>
              <a:buChar char="●"/>
              <a:defRPr sz="1600">
                <a:solidFill>
                  <a:schemeClr val="lt1"/>
                </a:solidFill>
                <a:latin typeface="Baloo Paaji 2"/>
                <a:ea typeface="Baloo Paaji 2"/>
                <a:cs typeface="Baloo Paaji 2"/>
                <a:sym typeface="Baloo Paaji 2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loo Paaji 2"/>
              <a:buChar char="○"/>
              <a:defRPr sz="1600">
                <a:solidFill>
                  <a:schemeClr val="lt1"/>
                </a:solidFill>
                <a:latin typeface="Baloo Paaji 2"/>
                <a:ea typeface="Baloo Paaji 2"/>
                <a:cs typeface="Baloo Paaji 2"/>
                <a:sym typeface="Baloo Paaji 2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loo Paaji 2"/>
              <a:buChar char="■"/>
              <a:defRPr sz="1600">
                <a:solidFill>
                  <a:schemeClr val="lt1"/>
                </a:solidFill>
                <a:latin typeface="Baloo Paaji 2"/>
                <a:ea typeface="Baloo Paaji 2"/>
                <a:cs typeface="Baloo Paaji 2"/>
                <a:sym typeface="Baloo Paaji 2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5" r:id="rId3"/>
    <p:sldLayoutId id="2147483656" r:id="rId4"/>
    <p:sldLayoutId id="2147483658" r:id="rId5"/>
    <p:sldLayoutId id="2147483659" r:id="rId6"/>
    <p:sldLayoutId id="2147483660" r:id="rId7"/>
    <p:sldLayoutId id="2147483663" r:id="rId8"/>
    <p:sldLayoutId id="2147483678" r:id="rId9"/>
    <p:sldLayoutId id="2147483679" r:id="rId10"/>
    <p:sldLayoutId id="2147483680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5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280" name="Google Shape;280;p35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مربع نص 1">
            <a:extLst>
              <a:ext uri="{FF2B5EF4-FFF2-40B4-BE49-F238E27FC236}">
                <a16:creationId xmlns="" xmlns:a16="http://schemas.microsoft.com/office/drawing/2014/main" id="{C498204A-E8A4-96EB-E0A3-C9500D0A88A2}"/>
              </a:ext>
            </a:extLst>
          </p:cNvPr>
          <p:cNvSpPr txBox="1"/>
          <p:nvPr/>
        </p:nvSpPr>
        <p:spPr>
          <a:xfrm>
            <a:off x="1261729" y="1857153"/>
            <a:ext cx="6904075" cy="107721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rint MT Shadow" panose="04020605060303030202" pitchFamily="82" charset="0"/>
              </a:rPr>
              <a:t>SaaS Complaint Management System</a:t>
            </a:r>
          </a:p>
          <a:p>
            <a:endParaRPr lang="ar-SA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rint MT Shadow" panose="04020605060303030202" pitchFamily="82" charset="0"/>
            </a:endParaRPr>
          </a:p>
        </p:txBody>
      </p:sp>
      <p:sp>
        <p:nvSpPr>
          <p:cNvPr id="4" name="مربع نص 3">
            <a:extLst>
              <a:ext uri="{FF2B5EF4-FFF2-40B4-BE49-F238E27FC236}">
                <a16:creationId xmlns="" xmlns:a16="http://schemas.microsoft.com/office/drawing/2014/main" id="{ADB60EA4-4893-877A-0680-B52C6E412BD0}"/>
              </a:ext>
            </a:extLst>
          </p:cNvPr>
          <p:cNvSpPr txBox="1"/>
          <p:nvPr/>
        </p:nvSpPr>
        <p:spPr>
          <a:xfrm>
            <a:off x="1446027" y="2934371"/>
            <a:ext cx="6535478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ar-SA" sz="1800" b="1" dirty="0" err="1">
                <a:latin typeface="Imprint MT Shadow" panose="04020605060303030202" pitchFamily="82" charset="0"/>
              </a:rPr>
              <a:t>Senior</a:t>
            </a:r>
            <a:r>
              <a:rPr lang="ar-SA" sz="1800" b="1" dirty="0">
                <a:latin typeface="Imprint MT Shadow" panose="04020605060303030202" pitchFamily="82" charset="0"/>
              </a:rPr>
              <a:t> </a:t>
            </a:r>
            <a:r>
              <a:rPr lang="ar-SA" sz="1800" b="1" dirty="0" err="1">
                <a:latin typeface="Imprint MT Shadow" panose="04020605060303030202" pitchFamily="82" charset="0"/>
              </a:rPr>
              <a:t>Project</a:t>
            </a:r>
            <a:r>
              <a:rPr lang="ar-SA" sz="1800" b="1" dirty="0">
                <a:latin typeface="Imprint MT Shadow" panose="04020605060303030202" pitchFamily="82" charset="0"/>
              </a:rPr>
              <a:t> </a:t>
            </a:r>
            <a:r>
              <a:rPr lang="ar-SA" sz="1800" b="1" dirty="0" err="1">
                <a:latin typeface="Imprint MT Shadow" panose="04020605060303030202" pitchFamily="82" charset="0"/>
              </a:rPr>
              <a:t>By</a:t>
            </a:r>
            <a:r>
              <a:rPr lang="ar-SA" sz="1800" b="1" dirty="0">
                <a:latin typeface="Imprint MT Shadow" panose="04020605060303030202" pitchFamily="82" charset="0"/>
              </a:rPr>
              <a:t> :</a:t>
            </a:r>
          </a:p>
          <a:p>
            <a:pPr algn="ctr"/>
            <a:r>
              <a:rPr lang="en-US" sz="1800" b="1" dirty="0">
                <a:latin typeface="Imprint MT Shadow" panose="04020605060303030202" pitchFamily="82" charset="0"/>
              </a:rPr>
              <a:t>Raghad </a:t>
            </a:r>
            <a:r>
              <a:rPr lang="en-US" sz="1800" b="1" dirty="0" err="1">
                <a:latin typeface="Imprint MT Shadow" panose="04020605060303030202" pitchFamily="82" charset="0"/>
              </a:rPr>
              <a:t>Hredeen</a:t>
            </a:r>
            <a:r>
              <a:rPr lang="en-US" sz="1800" b="1" dirty="0">
                <a:latin typeface="Imprint MT Shadow" panose="04020605060303030202" pitchFamily="82" charset="0"/>
              </a:rPr>
              <a:t>        </a:t>
            </a:r>
            <a:r>
              <a:rPr lang="en-US" sz="1800" b="1" dirty="0" err="1">
                <a:latin typeface="Imprint MT Shadow" panose="04020605060303030202" pitchFamily="82" charset="0"/>
              </a:rPr>
              <a:t>Rahma</a:t>
            </a:r>
            <a:r>
              <a:rPr lang="en-US" sz="1800" b="1" dirty="0">
                <a:latin typeface="Imprint MT Shadow" panose="04020605060303030202" pitchFamily="82" charset="0"/>
              </a:rPr>
              <a:t> </a:t>
            </a:r>
            <a:r>
              <a:rPr lang="en-US" sz="1800" b="1" dirty="0" err="1" smtClean="0">
                <a:latin typeface="Imprint MT Shadow" panose="04020605060303030202" pitchFamily="82" charset="0"/>
              </a:rPr>
              <a:t>Al_Refai</a:t>
            </a:r>
            <a:r>
              <a:rPr lang="en-US" sz="1800" b="1" dirty="0" smtClean="0">
                <a:latin typeface="Imprint MT Shadow" panose="04020605060303030202" pitchFamily="82" charset="0"/>
              </a:rPr>
              <a:t>        </a:t>
            </a:r>
            <a:r>
              <a:rPr lang="en-US" sz="1800" b="1" dirty="0" err="1">
                <a:latin typeface="Imprint MT Shadow" panose="04020605060303030202" pitchFamily="82" charset="0"/>
              </a:rPr>
              <a:t>Rawaa</a:t>
            </a:r>
            <a:r>
              <a:rPr lang="en-US" sz="1800" b="1" dirty="0">
                <a:latin typeface="Imprint MT Shadow" panose="04020605060303030202" pitchFamily="82" charset="0"/>
              </a:rPr>
              <a:t> </a:t>
            </a:r>
            <a:r>
              <a:rPr lang="en-US" sz="1800" b="1" dirty="0" err="1" smtClean="0">
                <a:latin typeface="Imprint MT Shadow" panose="04020605060303030202" pitchFamily="82" charset="0"/>
              </a:rPr>
              <a:t>Rabaa</a:t>
            </a:r>
            <a:endParaRPr lang="ar-SA" sz="1800" b="1" dirty="0">
              <a:latin typeface="Imprint MT Shadow" panose="04020605060303030202" pitchFamily="82" charset="0"/>
            </a:endParaRPr>
          </a:p>
        </p:txBody>
      </p:sp>
      <p:sp>
        <p:nvSpPr>
          <p:cNvPr id="5" name="مربع نص 4">
            <a:extLst>
              <a:ext uri="{FF2B5EF4-FFF2-40B4-BE49-F238E27FC236}">
                <a16:creationId xmlns="" xmlns:a16="http://schemas.microsoft.com/office/drawing/2014/main" id="{2BC04F2A-49AF-ADF6-43C0-2E2E1C92B0C2}"/>
              </a:ext>
            </a:extLst>
          </p:cNvPr>
          <p:cNvSpPr txBox="1"/>
          <p:nvPr/>
        </p:nvSpPr>
        <p:spPr>
          <a:xfrm>
            <a:off x="652130" y="4042613"/>
            <a:ext cx="5663610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ar-SA" sz="2000" b="1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Supervisor</a:t>
            </a:r>
            <a:r>
              <a:rPr lang="ar-SA" sz="2000" b="1" dirty="0">
                <a:solidFill>
                  <a:schemeClr val="bg1"/>
                </a:solidFill>
                <a:latin typeface="Imprint MT Shadow" panose="04020605060303030202" pitchFamily="82" charset="0"/>
              </a:rPr>
              <a:t> :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Imprint MT Shadow" panose="04020605060303030202" pitchFamily="82" charset="0"/>
              </a:rPr>
              <a:t>Eng . </a:t>
            </a:r>
            <a:r>
              <a:rPr lang="ar-SA" sz="2000" b="1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Anas</a:t>
            </a:r>
            <a:r>
              <a:rPr lang="ar-SA" sz="2000" b="1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2000" b="1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Abdulaziz</a:t>
            </a:r>
            <a:r>
              <a:rPr lang="ar-SA" sz="2000" b="1" dirty="0">
                <a:solidFill>
                  <a:schemeClr val="bg1"/>
                </a:solidFill>
                <a:latin typeface="Imprint MT Shadow" panose="04020605060303030202" pitchFamily="82" charset="0"/>
              </a:rPr>
              <a:t>       </a:t>
            </a:r>
            <a:r>
              <a:rPr lang="en-US" sz="2000" b="1" dirty="0">
                <a:solidFill>
                  <a:schemeClr val="bg1"/>
                </a:solidFill>
                <a:latin typeface="Imprint MT Shadow" panose="04020605060303030202" pitchFamily="82" charset="0"/>
              </a:rPr>
              <a:t>Dr.</a:t>
            </a:r>
            <a:r>
              <a:rPr lang="ar-SA" sz="2000" b="1" dirty="0">
                <a:solidFill>
                  <a:schemeClr val="bg1"/>
                </a:solidFill>
                <a:latin typeface="Imprint MT Shadow" panose="04020605060303030202" pitchFamily="82" charset="0"/>
              </a:rPr>
              <a:t>  </a:t>
            </a:r>
            <a:r>
              <a:rPr lang="ar-SA" sz="2000" b="1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Mohib</a:t>
            </a:r>
            <a:r>
              <a:rPr lang="ar-SA" sz="2000" b="1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2000" b="1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Al-Naqri</a:t>
            </a:r>
            <a:r>
              <a:rPr lang="ar-SA" sz="2000" b="1" dirty="0">
                <a:solidFill>
                  <a:schemeClr val="bg1"/>
                </a:solidFill>
                <a:latin typeface="Imprint MT Shadow" panose="04020605060303030202" pitchFamily="82" charset="0"/>
              </a:rPr>
              <a:t>     </a:t>
            </a:r>
          </a:p>
        </p:txBody>
      </p:sp>
      <p:sp>
        <p:nvSpPr>
          <p:cNvPr id="6" name="مربع نص 5">
            <a:extLst>
              <a:ext uri="{FF2B5EF4-FFF2-40B4-BE49-F238E27FC236}">
                <a16:creationId xmlns="" xmlns:a16="http://schemas.microsoft.com/office/drawing/2014/main" id="{84AFAFFC-7CF0-5EBB-4AB7-2BABAD44010F}"/>
              </a:ext>
            </a:extLst>
          </p:cNvPr>
          <p:cNvSpPr txBox="1"/>
          <p:nvPr/>
        </p:nvSpPr>
        <p:spPr>
          <a:xfrm>
            <a:off x="6471684" y="4565833"/>
            <a:ext cx="2225749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  <a:latin typeface="Imprint MT Shadow" panose="04020605060303030202" pitchFamily="82" charset="0"/>
              </a:rPr>
              <a:t>2026 –October– 31 </a:t>
            </a:r>
            <a:endParaRPr lang="ar-SA" sz="1800" b="1" dirty="0">
              <a:solidFill>
                <a:schemeClr val="bg1"/>
              </a:solidFill>
              <a:latin typeface="Imprint MT Shadow" panose="04020605060303030202" pitchFamily="82" charset="0"/>
            </a:endParaRPr>
          </a:p>
        </p:txBody>
      </p:sp>
      <p:pic>
        <p:nvPicPr>
          <p:cNvPr id="48" name="Picture 3510">
            <a:extLst>
              <a:ext uri="{FF2B5EF4-FFF2-40B4-BE49-F238E27FC236}">
                <a16:creationId xmlns="" xmlns:a16="http://schemas.microsoft.com/office/drawing/2014/main" id="{8C574548-D7FB-CA7D-91B4-086F4D1DCF0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-276446" y="-37826"/>
            <a:ext cx="2388781" cy="861653"/>
          </a:xfrm>
          <a:prstGeom prst="rect">
            <a:avLst/>
          </a:prstGeom>
        </p:spPr>
      </p:pic>
      <p:pic>
        <p:nvPicPr>
          <p:cNvPr id="50" name="Picture 3508">
            <a:extLst>
              <a:ext uri="{FF2B5EF4-FFF2-40B4-BE49-F238E27FC236}">
                <a16:creationId xmlns="" xmlns:a16="http://schemas.microsoft.com/office/drawing/2014/main" id="{D3838A61-A03E-3F39-7630-29E9DC70BA03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5500576" y="1"/>
            <a:ext cx="2041451" cy="13042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7"/>
          <p:cNvSpPr/>
          <p:nvPr/>
        </p:nvSpPr>
        <p:spPr>
          <a:xfrm>
            <a:off x="4658825" y="1669600"/>
            <a:ext cx="3820806" cy="10752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ar-SA" sz="1600" b="1" dirty="0" err="1">
                <a:latin typeface="Imprint MT Shadow" panose="04020605060303030202" pitchFamily="82" charset="0"/>
              </a:rPr>
              <a:t>Project</a:t>
            </a:r>
            <a:r>
              <a:rPr lang="ar-SA" sz="1600" b="1" dirty="0">
                <a:latin typeface="Imprint MT Shadow" panose="04020605060303030202" pitchFamily="82" charset="0"/>
              </a:rPr>
              <a:t> </a:t>
            </a:r>
            <a:r>
              <a:rPr lang="ar-SA" sz="1600" b="1" dirty="0" err="1">
                <a:latin typeface="Imprint MT Shadow" panose="04020605060303030202" pitchFamily="82" charset="0"/>
              </a:rPr>
              <a:t>Concept</a:t>
            </a:r>
            <a:r>
              <a:rPr lang="ar-SA" sz="1600" b="1" dirty="0">
                <a:latin typeface="Imprint MT Shadow" panose="04020605060303030202" pitchFamily="82" charset="0"/>
              </a:rPr>
              <a:t>:</a:t>
            </a:r>
            <a:r>
              <a:rPr lang="ar-SA" sz="1600" dirty="0">
                <a:latin typeface="Imprint MT Shadow" panose="04020605060303030202" pitchFamily="82" charset="0"/>
              </a:rPr>
              <a:t> A </a:t>
            </a:r>
            <a:r>
              <a:rPr lang="ar-SA" sz="1600" dirty="0" err="1">
                <a:latin typeface="Imprint MT Shadow" panose="04020605060303030202" pitchFamily="82" charset="0"/>
              </a:rPr>
              <a:t>smart</a:t>
            </a:r>
            <a:r>
              <a:rPr lang="ar-SA" sz="1600" dirty="0"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latin typeface="Imprint MT Shadow" panose="04020605060303030202" pitchFamily="82" charset="0"/>
              </a:rPr>
              <a:t>Multi-Tenant</a:t>
            </a:r>
            <a:r>
              <a:rPr lang="ar-SA" sz="1600" dirty="0"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latin typeface="Imprint MT Shadow" panose="04020605060303030202" pitchFamily="82" charset="0"/>
              </a:rPr>
              <a:t>SaaS</a:t>
            </a:r>
            <a:r>
              <a:rPr lang="ar-SA" sz="1600" dirty="0"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latin typeface="Imprint MT Shadow" panose="04020605060303030202" pitchFamily="82" charset="0"/>
              </a:rPr>
              <a:t>platform</a:t>
            </a:r>
            <a:r>
              <a:rPr lang="ar-SA" sz="1600" dirty="0"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latin typeface="Imprint MT Shadow" panose="04020605060303030202" pitchFamily="82" charset="0"/>
              </a:rPr>
              <a:t>providing</a:t>
            </a:r>
            <a:r>
              <a:rPr lang="ar-SA" sz="1600" dirty="0"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latin typeface="Imprint MT Shadow" panose="04020605060303030202" pitchFamily="82" charset="0"/>
              </a:rPr>
              <a:t>full</a:t>
            </a:r>
            <a:r>
              <a:rPr lang="ar-SA" sz="1600" dirty="0"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latin typeface="Imprint MT Shadow" panose="04020605060303030202" pitchFamily="82" charset="0"/>
              </a:rPr>
              <a:t>data</a:t>
            </a:r>
            <a:r>
              <a:rPr lang="ar-SA" sz="1600" dirty="0"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latin typeface="Imprint MT Shadow" panose="04020605060303030202" pitchFamily="82" charset="0"/>
              </a:rPr>
              <a:t>isolation</a:t>
            </a:r>
            <a:r>
              <a:rPr lang="ar-SA" sz="1600" dirty="0"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latin typeface="Imprint MT Shadow" panose="04020605060303030202" pitchFamily="82" charset="0"/>
              </a:rPr>
              <a:t>for</a:t>
            </a:r>
            <a:r>
              <a:rPr lang="ar-SA" sz="1600" dirty="0"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latin typeface="Imprint MT Shadow" panose="04020605060303030202" pitchFamily="82" charset="0"/>
              </a:rPr>
              <a:t>each</a:t>
            </a:r>
            <a:r>
              <a:rPr lang="ar-SA" sz="1600" dirty="0"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latin typeface="Imprint MT Shadow" panose="04020605060303030202" pitchFamily="82" charset="0"/>
              </a:rPr>
              <a:t>organization</a:t>
            </a:r>
            <a:r>
              <a:rPr lang="ar-SA" sz="1600" dirty="0">
                <a:latin typeface="Imprint MT Shadow" panose="04020605060303030202" pitchFamily="82" charset="0"/>
              </a:rPr>
              <a:t> (</a:t>
            </a:r>
            <a:r>
              <a:rPr lang="ar-SA" sz="1600" dirty="0" err="1">
                <a:latin typeface="Imprint MT Shadow" panose="04020605060303030202" pitchFamily="82" charset="0"/>
              </a:rPr>
              <a:t>Schema-per-Tenant</a:t>
            </a:r>
            <a:r>
              <a:rPr lang="ar-SA" sz="1600" dirty="0">
                <a:latin typeface="Imprint MT Shadow" panose="04020605060303030202" pitchFamily="82" charset="0"/>
              </a:rPr>
              <a:t>). </a:t>
            </a:r>
            <a:endParaRPr sz="1600" dirty="0">
              <a:latin typeface="Imprint MT Shadow" panose="04020605060303030202" pitchFamily="82" charset="0"/>
            </a:endParaRPr>
          </a:p>
        </p:txBody>
      </p:sp>
      <p:sp>
        <p:nvSpPr>
          <p:cNvPr id="386" name="Google Shape;386;p47"/>
          <p:cNvSpPr/>
          <p:nvPr/>
        </p:nvSpPr>
        <p:spPr>
          <a:xfrm flipH="1">
            <a:off x="4658825" y="2875725"/>
            <a:ext cx="3992256" cy="10752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ar-SA" sz="1600" b="1" dirty="0">
                <a:latin typeface="Imprint MT Shadow" panose="04020605060303030202" pitchFamily="82" charset="0"/>
              </a:rPr>
              <a:t>AI </a:t>
            </a:r>
            <a:r>
              <a:rPr lang="ar-SA" sz="1600" b="1" dirty="0" err="1">
                <a:latin typeface="Imprint MT Shadow" panose="04020605060303030202" pitchFamily="82" charset="0"/>
              </a:rPr>
              <a:t>Automation</a:t>
            </a:r>
            <a:r>
              <a:rPr lang="ar-SA" sz="1600" b="1" dirty="0">
                <a:latin typeface="Imprint MT Shadow" panose="04020605060303030202" pitchFamily="82" charset="0"/>
              </a:rPr>
              <a:t>:</a:t>
            </a:r>
            <a:r>
              <a:rPr lang="ar-SA" sz="1600" dirty="0"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latin typeface="Imprint MT Shadow" panose="04020605060303030202" pitchFamily="82" charset="0"/>
              </a:rPr>
              <a:t>Automated</a:t>
            </a:r>
            <a:r>
              <a:rPr lang="ar-SA" sz="1600" dirty="0"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latin typeface="Imprint MT Shadow" panose="04020605060303030202" pitchFamily="82" charset="0"/>
              </a:rPr>
              <a:t>Arabic</a:t>
            </a:r>
            <a:r>
              <a:rPr lang="ar-SA" sz="1600" dirty="0"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latin typeface="Imprint MT Shadow" panose="04020605060303030202" pitchFamily="82" charset="0"/>
              </a:rPr>
              <a:t>complaint</a:t>
            </a:r>
            <a:r>
              <a:rPr lang="ar-SA" sz="1600" dirty="0"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latin typeface="Imprint MT Shadow" panose="04020605060303030202" pitchFamily="82" charset="0"/>
              </a:rPr>
              <a:t>classification</a:t>
            </a:r>
            <a:r>
              <a:rPr lang="ar-SA" sz="1600" dirty="0">
                <a:latin typeface="Imprint MT Shadow" panose="04020605060303030202" pitchFamily="82" charset="0"/>
              </a:rPr>
              <a:t> (</a:t>
            </a:r>
            <a:r>
              <a:rPr lang="ar-SA" sz="1600" dirty="0" err="1">
                <a:latin typeface="Imprint MT Shadow" panose="04020605060303030202" pitchFamily="82" charset="0"/>
              </a:rPr>
              <a:t>AraBERT</a:t>
            </a:r>
            <a:r>
              <a:rPr lang="ar-SA" sz="1600" dirty="0">
                <a:latin typeface="Imprint MT Shadow" panose="04020605060303030202" pitchFamily="82" charset="0"/>
              </a:rPr>
              <a:t>) </a:t>
            </a:r>
            <a:r>
              <a:rPr lang="ar-SA" sz="1600" dirty="0" err="1">
                <a:latin typeface="Imprint MT Shadow" panose="04020605060303030202" pitchFamily="82" charset="0"/>
              </a:rPr>
              <a:t>to</a:t>
            </a:r>
            <a:r>
              <a:rPr lang="ar-SA" sz="1600" dirty="0"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latin typeface="Imprint MT Shadow" panose="04020605060303030202" pitchFamily="82" charset="0"/>
              </a:rPr>
              <a:t>determine</a:t>
            </a:r>
            <a:r>
              <a:rPr lang="ar-SA" sz="1600" dirty="0"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latin typeface="Imprint MT Shadow" panose="04020605060303030202" pitchFamily="82" charset="0"/>
              </a:rPr>
              <a:t>responsible</a:t>
            </a:r>
            <a:r>
              <a:rPr lang="ar-SA" sz="1600" dirty="0"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latin typeface="Imprint MT Shadow" panose="04020605060303030202" pitchFamily="82" charset="0"/>
              </a:rPr>
              <a:t>departments</a:t>
            </a:r>
            <a:r>
              <a:rPr lang="ar-SA" sz="1600" dirty="0"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latin typeface="Imprint MT Shadow" panose="04020605060303030202" pitchFamily="82" charset="0"/>
              </a:rPr>
              <a:t>and</a:t>
            </a:r>
            <a:r>
              <a:rPr lang="ar-SA" sz="1600" dirty="0"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latin typeface="Imprint MT Shadow" panose="04020605060303030202" pitchFamily="82" charset="0"/>
              </a:rPr>
              <a:t>priority</a:t>
            </a:r>
            <a:r>
              <a:rPr lang="ar-SA" sz="1600" dirty="0"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latin typeface="Imprint MT Shadow" panose="04020605060303030202" pitchFamily="82" charset="0"/>
              </a:rPr>
              <a:t>levels</a:t>
            </a:r>
            <a:r>
              <a:rPr lang="ar-SA" sz="1600" dirty="0">
                <a:latin typeface="Imprint MT Shadow" panose="04020605060303030202" pitchFamily="82" charset="0"/>
              </a:rPr>
              <a:t>. </a:t>
            </a:r>
            <a:endParaRPr sz="1600" dirty="0">
              <a:latin typeface="Imprint MT Shadow" panose="04020605060303030202" pitchFamily="82" charset="0"/>
            </a:endParaRPr>
          </a:p>
        </p:txBody>
      </p:sp>
      <p:sp>
        <p:nvSpPr>
          <p:cNvPr id="387" name="Google Shape;387;p47"/>
          <p:cNvSpPr/>
          <p:nvPr/>
        </p:nvSpPr>
        <p:spPr>
          <a:xfrm flipH="1">
            <a:off x="414338" y="1662688"/>
            <a:ext cx="4105487" cy="10752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ar-SA" sz="1600" b="1" dirty="0" err="1">
                <a:latin typeface="Imprint MT Shadow" panose="04020605060303030202" pitchFamily="82" charset="0"/>
              </a:rPr>
              <a:t>The</a:t>
            </a:r>
            <a:r>
              <a:rPr lang="ar-SA" sz="1600" b="1" dirty="0">
                <a:latin typeface="Imprint MT Shadow" panose="04020605060303030202" pitchFamily="82" charset="0"/>
              </a:rPr>
              <a:t> </a:t>
            </a:r>
            <a:r>
              <a:rPr lang="ar-SA" sz="1600" b="1" dirty="0" err="1">
                <a:latin typeface="Imprint MT Shadow" panose="04020605060303030202" pitchFamily="82" charset="0"/>
              </a:rPr>
              <a:t>Challenge</a:t>
            </a:r>
            <a:r>
              <a:rPr lang="ar-SA" sz="1600" b="1" dirty="0">
                <a:latin typeface="Imprint MT Shadow" panose="04020605060303030202" pitchFamily="82" charset="0"/>
              </a:rPr>
              <a:t>:</a:t>
            </a:r>
            <a:r>
              <a:rPr lang="ar-SA" sz="1600" dirty="0"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latin typeface="Imprint MT Shadow" panose="04020605060303030202" pitchFamily="82" charset="0"/>
              </a:rPr>
              <a:t>Lack</a:t>
            </a:r>
            <a:r>
              <a:rPr lang="ar-SA" sz="1600" dirty="0"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latin typeface="Imprint MT Shadow" panose="04020605060303030202" pitchFamily="82" charset="0"/>
              </a:rPr>
              <a:t>of</a:t>
            </a:r>
            <a:r>
              <a:rPr lang="ar-SA" sz="1600" dirty="0"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latin typeface="Imprint MT Shadow" panose="04020605060303030202" pitchFamily="82" charset="0"/>
              </a:rPr>
              <a:t>secure</a:t>
            </a:r>
            <a:r>
              <a:rPr lang="ar-SA" sz="1600" dirty="0"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latin typeface="Imprint MT Shadow" panose="04020605060303030202" pitchFamily="82" charset="0"/>
              </a:rPr>
              <a:t>local</a:t>
            </a:r>
            <a:r>
              <a:rPr lang="ar-SA" sz="1600" dirty="0"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latin typeface="Imprint MT Shadow" panose="04020605060303030202" pitchFamily="82" charset="0"/>
              </a:rPr>
              <a:t>platforms</a:t>
            </a:r>
            <a:r>
              <a:rPr lang="ar-SA" sz="1600" dirty="0"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latin typeface="Imprint MT Shadow" panose="04020605060303030202" pitchFamily="82" charset="0"/>
              </a:rPr>
              <a:t>for</a:t>
            </a:r>
            <a:r>
              <a:rPr lang="ar-SA" sz="1600" dirty="0"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latin typeface="Imprint MT Shadow" panose="04020605060303030202" pitchFamily="82" charset="0"/>
              </a:rPr>
              <a:t>internal</a:t>
            </a:r>
            <a:r>
              <a:rPr lang="ar-SA" sz="1600" dirty="0"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latin typeface="Imprint MT Shadow" panose="04020605060303030202" pitchFamily="82" charset="0"/>
              </a:rPr>
              <a:t>complaint</a:t>
            </a:r>
            <a:r>
              <a:rPr lang="ar-SA" sz="1600" dirty="0"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latin typeface="Imprint MT Shadow" panose="04020605060303030202" pitchFamily="82" charset="0"/>
              </a:rPr>
              <a:t>management</a:t>
            </a:r>
            <a:r>
              <a:rPr lang="ar-SA" sz="1600" dirty="0">
                <a:latin typeface="Imprint MT Shadow" panose="04020605060303030202" pitchFamily="82" charset="0"/>
              </a:rPr>
              <a:t>, </a:t>
            </a:r>
            <a:r>
              <a:rPr lang="ar-SA" sz="1600" dirty="0" err="1">
                <a:latin typeface="Imprint MT Shadow" panose="04020605060303030202" pitchFamily="82" charset="0"/>
              </a:rPr>
              <a:t>relying</a:t>
            </a:r>
            <a:r>
              <a:rPr lang="ar-SA" sz="1600" dirty="0"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latin typeface="Imprint MT Shadow" panose="04020605060303030202" pitchFamily="82" charset="0"/>
              </a:rPr>
              <a:t>on</a:t>
            </a:r>
            <a:r>
              <a:rPr lang="ar-SA" sz="1600" dirty="0"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latin typeface="Imprint MT Shadow" panose="04020605060303030202" pitchFamily="82" charset="0"/>
              </a:rPr>
              <a:t>slow</a:t>
            </a:r>
            <a:r>
              <a:rPr lang="ar-SA" sz="1600" dirty="0">
                <a:latin typeface="Imprint MT Shadow" panose="04020605060303030202" pitchFamily="82" charset="0"/>
              </a:rPr>
              <a:t>, </a:t>
            </a:r>
            <a:r>
              <a:rPr lang="ar-SA" sz="1600" dirty="0" err="1">
                <a:latin typeface="Imprint MT Shadow" panose="04020605060303030202" pitchFamily="82" charset="0"/>
              </a:rPr>
              <a:t>inaccurate</a:t>
            </a:r>
            <a:r>
              <a:rPr lang="ar-SA" sz="1600" dirty="0"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latin typeface="Imprint MT Shadow" panose="04020605060303030202" pitchFamily="82" charset="0"/>
              </a:rPr>
              <a:t>manual</a:t>
            </a:r>
            <a:r>
              <a:rPr lang="ar-SA" sz="1600" dirty="0"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latin typeface="Imprint MT Shadow" panose="04020605060303030202" pitchFamily="82" charset="0"/>
              </a:rPr>
              <a:t>methods</a:t>
            </a:r>
            <a:r>
              <a:rPr lang="ar-SA" sz="1600" dirty="0">
                <a:latin typeface="Imprint MT Shadow" panose="04020605060303030202" pitchFamily="82" charset="0"/>
              </a:rPr>
              <a:t>.</a:t>
            </a:r>
            <a:endParaRPr sz="1000" b="1" dirty="0">
              <a:latin typeface="Imprint MT Shadow" panose="04020605060303030202" pitchFamily="82" charset="0"/>
              <a:ea typeface="Baloo Paaji 2"/>
              <a:cs typeface="Baloo Paaji 2"/>
              <a:sym typeface="Baloo Paaji 2"/>
            </a:endParaRPr>
          </a:p>
        </p:txBody>
      </p:sp>
      <p:sp>
        <p:nvSpPr>
          <p:cNvPr id="388" name="Google Shape;388;p47"/>
          <p:cNvSpPr/>
          <p:nvPr/>
        </p:nvSpPr>
        <p:spPr>
          <a:xfrm>
            <a:off x="414338" y="2868813"/>
            <a:ext cx="4105487" cy="1075200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DBE1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ar-SA" sz="1600" b="1" dirty="0" err="1">
                <a:latin typeface="Imprint MT Shadow" panose="04020605060303030202" pitchFamily="82" charset="0"/>
              </a:rPr>
              <a:t>Tech</a:t>
            </a:r>
            <a:r>
              <a:rPr lang="ar-SA" sz="1600" b="1" dirty="0">
                <a:latin typeface="Imprint MT Shadow" panose="04020605060303030202" pitchFamily="82" charset="0"/>
              </a:rPr>
              <a:t> </a:t>
            </a:r>
            <a:r>
              <a:rPr lang="ar-SA" sz="1600" b="1" dirty="0" err="1">
                <a:latin typeface="Imprint MT Shadow" panose="04020605060303030202" pitchFamily="82" charset="0"/>
              </a:rPr>
              <a:t>Stack</a:t>
            </a:r>
            <a:r>
              <a:rPr lang="ar-SA" sz="1600" b="1" dirty="0">
                <a:latin typeface="Imprint MT Shadow" panose="04020605060303030202" pitchFamily="82" charset="0"/>
              </a:rPr>
              <a:t> &amp; </a:t>
            </a:r>
            <a:r>
              <a:rPr lang="ar-SA" sz="1600" b="1" dirty="0" err="1">
                <a:latin typeface="Imprint MT Shadow" panose="04020605060303030202" pitchFamily="82" charset="0"/>
              </a:rPr>
              <a:t>Features</a:t>
            </a:r>
            <a:r>
              <a:rPr lang="ar-SA" sz="1600" b="1" dirty="0">
                <a:latin typeface="Imprint MT Shadow" panose="04020605060303030202" pitchFamily="82" charset="0"/>
              </a:rPr>
              <a:t>:</a:t>
            </a:r>
            <a:r>
              <a:rPr lang="ar-SA" sz="1600" dirty="0"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latin typeface="Imprint MT Shadow" panose="04020605060303030202" pitchFamily="82" charset="0"/>
              </a:rPr>
              <a:t>Fast</a:t>
            </a:r>
            <a:r>
              <a:rPr lang="ar-SA" sz="1600" dirty="0">
                <a:latin typeface="Imprint MT Shadow" panose="04020605060303030202" pitchFamily="82" charset="0"/>
              </a:rPr>
              <a:t> React.js </a:t>
            </a:r>
            <a:r>
              <a:rPr lang="ar-SA" sz="1600" dirty="0" err="1">
                <a:latin typeface="Imprint MT Shadow" panose="04020605060303030202" pitchFamily="82" charset="0"/>
              </a:rPr>
              <a:t>frontend</a:t>
            </a:r>
            <a:r>
              <a:rPr lang="ar-SA" sz="1600" dirty="0"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latin typeface="Imprint MT Shadow" panose="04020605060303030202" pitchFamily="82" charset="0"/>
              </a:rPr>
              <a:t>with</a:t>
            </a:r>
            <a:r>
              <a:rPr lang="ar-SA" sz="1600" dirty="0"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latin typeface="Imprint MT Shadow" panose="04020605060303030202" pitchFamily="82" charset="0"/>
              </a:rPr>
              <a:t>interactive</a:t>
            </a:r>
            <a:r>
              <a:rPr lang="ar-SA" sz="1600" dirty="0"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latin typeface="Imprint MT Shadow" panose="04020605060303030202" pitchFamily="82" charset="0"/>
              </a:rPr>
              <a:t>Kanban</a:t>
            </a:r>
            <a:r>
              <a:rPr lang="ar-SA" sz="1600" dirty="0"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latin typeface="Imprint MT Shadow" panose="04020605060303030202" pitchFamily="82" charset="0"/>
              </a:rPr>
              <a:t>Board</a:t>
            </a:r>
            <a:r>
              <a:rPr lang="ar-SA" sz="1600" dirty="0">
                <a:latin typeface="Imprint MT Shadow" panose="04020605060303030202" pitchFamily="82" charset="0"/>
              </a:rPr>
              <a:t>, </a:t>
            </a:r>
            <a:r>
              <a:rPr lang="ar-SA" sz="1600" dirty="0" err="1">
                <a:latin typeface="Imprint MT Shadow" panose="04020605060303030202" pitchFamily="82" charset="0"/>
              </a:rPr>
              <a:t>robust</a:t>
            </a:r>
            <a:r>
              <a:rPr lang="ar-SA" sz="1600" dirty="0"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latin typeface="Imprint MT Shadow" panose="04020605060303030202" pitchFamily="82" charset="0"/>
              </a:rPr>
              <a:t>FastAPI</a:t>
            </a:r>
            <a:r>
              <a:rPr lang="ar-SA" sz="1600" dirty="0"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latin typeface="Imprint MT Shadow" panose="04020605060303030202" pitchFamily="82" charset="0"/>
              </a:rPr>
              <a:t>core</a:t>
            </a:r>
            <a:r>
              <a:rPr lang="ar-SA" sz="1600" dirty="0">
                <a:latin typeface="Imprint MT Shadow" panose="04020605060303030202" pitchFamily="82" charset="0"/>
              </a:rPr>
              <a:t>, </a:t>
            </a:r>
            <a:r>
              <a:rPr lang="ar-SA" sz="1600" dirty="0" err="1">
                <a:latin typeface="Imprint MT Shadow" panose="04020605060303030202" pitchFamily="82" charset="0"/>
              </a:rPr>
              <a:t>Audit</a:t>
            </a:r>
            <a:r>
              <a:rPr lang="ar-SA" sz="1600" dirty="0"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latin typeface="Imprint MT Shadow" panose="04020605060303030202" pitchFamily="82" charset="0"/>
              </a:rPr>
              <a:t>Logs</a:t>
            </a:r>
            <a:r>
              <a:rPr lang="ar-SA" sz="1600" dirty="0">
                <a:latin typeface="Imprint MT Shadow" panose="04020605060303030202" pitchFamily="82" charset="0"/>
              </a:rPr>
              <a:t>, </a:t>
            </a:r>
            <a:r>
              <a:rPr lang="ar-SA" sz="1600" dirty="0" err="1">
                <a:latin typeface="Imprint MT Shadow" panose="04020605060303030202" pitchFamily="82" charset="0"/>
              </a:rPr>
              <a:t>and</a:t>
            </a:r>
            <a:r>
              <a:rPr lang="ar-SA" sz="1600" dirty="0"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latin typeface="Imprint MT Shadow" panose="04020605060303030202" pitchFamily="82" charset="0"/>
              </a:rPr>
              <a:t>full</a:t>
            </a:r>
            <a:r>
              <a:rPr lang="ar-SA" sz="1600" dirty="0"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latin typeface="Imprint MT Shadow" panose="04020605060303030202" pitchFamily="82" charset="0"/>
              </a:rPr>
              <a:t>bilingual</a:t>
            </a:r>
            <a:r>
              <a:rPr lang="ar-SA" sz="1600" dirty="0"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latin typeface="Imprint MT Shadow" panose="04020605060303030202" pitchFamily="82" charset="0"/>
              </a:rPr>
              <a:t>support</a:t>
            </a:r>
            <a:r>
              <a:rPr lang="ar-SA" sz="1600" dirty="0">
                <a:latin typeface="Imprint MT Shadow" panose="04020605060303030202" pitchFamily="82" charset="0"/>
              </a:rPr>
              <a:t>. </a:t>
            </a:r>
            <a:endParaRPr sz="1600" b="1" dirty="0">
              <a:latin typeface="Imprint MT Shadow" panose="04020605060303030202" pitchFamily="82" charset="0"/>
              <a:ea typeface="Baloo Paaji 2"/>
              <a:cs typeface="Baloo Paaji 2"/>
              <a:sym typeface="Baloo Paaji 2"/>
            </a:endParaRPr>
          </a:p>
        </p:txBody>
      </p:sp>
      <p:sp>
        <p:nvSpPr>
          <p:cNvPr id="389" name="Google Shape;389;p47"/>
          <p:cNvSpPr txBox="1">
            <a:spLocks noGrp="1"/>
          </p:cNvSpPr>
          <p:nvPr>
            <p:ph type="title"/>
          </p:nvPr>
        </p:nvSpPr>
        <p:spPr>
          <a:xfrm>
            <a:off x="1701412" y="283657"/>
            <a:ext cx="563682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ar-SA" dirty="0">
                <a:latin typeface="Imprint MT Shadow" panose="04020605060303030202" pitchFamily="82" charset="0"/>
              </a:rPr>
              <a:t>I</a:t>
            </a:r>
            <a:r>
              <a:rPr lang="en-US" dirty="0" err="1">
                <a:latin typeface="Imprint MT Shadow" panose="04020605060303030202" pitchFamily="82" charset="0"/>
              </a:rPr>
              <a:t>ntroductio</a:t>
            </a:r>
            <a:r>
              <a:rPr lang="en-GB" dirty="0">
                <a:latin typeface="Imprint MT Shadow" panose="04020605060303030202" pitchFamily="82" charset="0"/>
              </a:rPr>
              <a:t>n</a:t>
            </a:r>
            <a:endParaRPr dirty="0">
              <a:latin typeface="Imprint MT Shadow" panose="04020605060303030202" pitchFamily="8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مربع نص 5">
            <a:extLst>
              <a:ext uri="{FF2B5EF4-FFF2-40B4-BE49-F238E27FC236}">
                <a16:creationId xmlns="" xmlns:a16="http://schemas.microsoft.com/office/drawing/2014/main" id="{42B73C37-1E29-D38B-8F44-5771F108C473}"/>
              </a:ext>
            </a:extLst>
          </p:cNvPr>
          <p:cNvSpPr txBox="1"/>
          <p:nvPr/>
        </p:nvSpPr>
        <p:spPr>
          <a:xfrm>
            <a:off x="2810539" y="637953"/>
            <a:ext cx="3522921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ar-SA" sz="2400" b="1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Problem</a:t>
            </a:r>
            <a:r>
              <a:rPr lang="ar-SA" sz="2400" b="1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2400" b="1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Statement</a:t>
            </a:r>
            <a:endParaRPr lang="ar-SA" sz="2400" b="1" dirty="0">
              <a:solidFill>
                <a:schemeClr val="bg1"/>
              </a:solidFill>
              <a:latin typeface="Imprint MT Shadow" panose="04020605060303030202" pitchFamily="82" charset="0"/>
            </a:endParaRPr>
          </a:p>
        </p:txBody>
      </p:sp>
      <p:sp>
        <p:nvSpPr>
          <p:cNvPr id="7" name="مربع نص 6">
            <a:extLst>
              <a:ext uri="{FF2B5EF4-FFF2-40B4-BE49-F238E27FC236}">
                <a16:creationId xmlns="" xmlns:a16="http://schemas.microsoft.com/office/drawing/2014/main" id="{D60AE6CB-4F6B-629E-DE94-D1EAF39DF58D}"/>
              </a:ext>
            </a:extLst>
          </p:cNvPr>
          <p:cNvSpPr txBox="1"/>
          <p:nvPr/>
        </p:nvSpPr>
        <p:spPr>
          <a:xfrm>
            <a:off x="311887" y="1772093"/>
            <a:ext cx="8626549" cy="181588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Organizations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handling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internal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complaints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lack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 a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localized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,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Arabic-supported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multi-tenant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platform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that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automates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complaint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intake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,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intelligent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classification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,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and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automated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routing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to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designated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departments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and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agents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.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Without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 a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fully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isolated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system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offering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real-time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tracking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,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priority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assessment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,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audit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logging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,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and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automated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notifications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,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organizations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suffer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from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slow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and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inaccurate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manual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classification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,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delayed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response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times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,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misplaced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complaints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,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lack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of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accountability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,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and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diminished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operational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transparency</a:t>
            </a:r>
            <a:endParaRPr lang="ar-SA" sz="1600" dirty="0">
              <a:solidFill>
                <a:schemeClr val="bg1"/>
              </a:solidFill>
              <a:latin typeface="Imprint MT Shadow" panose="04020605060303030202" pitchFamily="82" charset="0"/>
            </a:endParaRPr>
          </a:p>
          <a:p>
            <a:pPr algn="ctr"/>
            <a:endParaRPr lang="ar-SA" sz="1600" dirty="0">
              <a:solidFill>
                <a:schemeClr val="bg1"/>
              </a:solidFill>
              <a:latin typeface="Imprint MT Shadow" panose="04020605060303030202" pitchFamily="8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74"/>
          <p:cNvSpPr txBox="1">
            <a:spLocks noGrp="1"/>
          </p:cNvSpPr>
          <p:nvPr>
            <p:ph type="title"/>
          </p:nvPr>
        </p:nvSpPr>
        <p:spPr>
          <a:xfrm>
            <a:off x="621100" y="348725"/>
            <a:ext cx="7901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ar-SA" sz="3200" dirty="0" err="1">
                <a:latin typeface="Imprint MT Shadow" panose="04020605060303030202" pitchFamily="82" charset="0"/>
              </a:rPr>
              <a:t>How</a:t>
            </a:r>
            <a:r>
              <a:rPr lang="ar-SA" sz="3200" dirty="0">
                <a:latin typeface="Imprint MT Shadow" panose="04020605060303030202" pitchFamily="82" charset="0"/>
              </a:rPr>
              <a:t> </a:t>
            </a:r>
            <a:r>
              <a:rPr lang="ar-SA" sz="3200" dirty="0" err="1">
                <a:latin typeface="Imprint MT Shadow" panose="04020605060303030202" pitchFamily="82" charset="0"/>
              </a:rPr>
              <a:t>We</a:t>
            </a:r>
            <a:r>
              <a:rPr lang="ar-SA" sz="3200" dirty="0">
                <a:latin typeface="Imprint MT Shadow" panose="04020605060303030202" pitchFamily="82" charset="0"/>
              </a:rPr>
              <a:t> </a:t>
            </a:r>
            <a:r>
              <a:rPr lang="ar-SA" sz="3200" dirty="0" err="1">
                <a:latin typeface="Imprint MT Shadow" panose="04020605060303030202" pitchFamily="82" charset="0"/>
              </a:rPr>
              <a:t>Plan</a:t>
            </a:r>
            <a:r>
              <a:rPr lang="ar-SA" sz="3200" dirty="0">
                <a:latin typeface="Imprint MT Shadow" panose="04020605060303030202" pitchFamily="82" charset="0"/>
              </a:rPr>
              <a:t> </a:t>
            </a:r>
            <a:r>
              <a:rPr lang="ar-SA" sz="3200" dirty="0" err="1">
                <a:latin typeface="Imprint MT Shadow" panose="04020605060303030202" pitchFamily="82" charset="0"/>
              </a:rPr>
              <a:t>To</a:t>
            </a:r>
            <a:r>
              <a:rPr lang="ar-SA" sz="3200" dirty="0">
                <a:latin typeface="Imprint MT Shadow" panose="04020605060303030202" pitchFamily="82" charset="0"/>
              </a:rPr>
              <a:t> </a:t>
            </a:r>
            <a:r>
              <a:rPr lang="ar-SA" sz="3200" dirty="0" err="1">
                <a:latin typeface="Imprint MT Shadow" panose="04020605060303030202" pitchFamily="82" charset="0"/>
              </a:rPr>
              <a:t>Solve</a:t>
            </a:r>
            <a:r>
              <a:rPr lang="ar-SA" sz="3200" dirty="0">
                <a:latin typeface="Imprint MT Shadow" panose="04020605060303030202" pitchFamily="82" charset="0"/>
              </a:rPr>
              <a:t> </a:t>
            </a:r>
            <a:r>
              <a:rPr lang="ar-SA" sz="3200" dirty="0" err="1">
                <a:latin typeface="Imprint MT Shadow" panose="04020605060303030202" pitchFamily="82" charset="0"/>
              </a:rPr>
              <a:t>It</a:t>
            </a:r>
            <a:endParaRPr sz="3200" dirty="0">
              <a:latin typeface="Imprint MT Shadow" panose="04020605060303030202" pitchFamily="82" charset="0"/>
            </a:endParaRPr>
          </a:p>
        </p:txBody>
      </p:sp>
      <p:sp>
        <p:nvSpPr>
          <p:cNvPr id="908" name="Google Shape;908;p74"/>
          <p:cNvSpPr txBox="1"/>
          <p:nvPr/>
        </p:nvSpPr>
        <p:spPr>
          <a:xfrm>
            <a:off x="4783050" y="3870886"/>
            <a:ext cx="2587299" cy="325500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1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ar-SA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Accountability</a:t>
            </a:r>
            <a:r>
              <a:rPr lang="ar-SA" dirty="0">
                <a:solidFill>
                  <a:schemeClr val="bg1"/>
                </a:solidFill>
                <a:latin typeface="Imprint MT Shadow" panose="04020605060303030202" pitchFamily="82" charset="0"/>
              </a:rPr>
              <a:t> &amp; </a:t>
            </a:r>
            <a:r>
              <a:rPr lang="ar-SA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Compliance</a:t>
            </a:r>
            <a:endParaRPr b="1" dirty="0">
              <a:solidFill>
                <a:schemeClr val="bg1"/>
              </a:solidFill>
              <a:latin typeface="Imprint MT Shadow" panose="04020605060303030202" pitchFamily="82" charset="0"/>
              <a:ea typeface="Baloo Paaji 2"/>
              <a:cs typeface="Baloo Paaji 2"/>
              <a:sym typeface="Baloo Paaji 2"/>
            </a:endParaRPr>
          </a:p>
        </p:txBody>
      </p:sp>
      <p:sp>
        <p:nvSpPr>
          <p:cNvPr id="909" name="Google Shape;909;p74"/>
          <p:cNvSpPr txBox="1"/>
          <p:nvPr/>
        </p:nvSpPr>
        <p:spPr>
          <a:xfrm>
            <a:off x="751367" y="2229319"/>
            <a:ext cx="2651052" cy="325500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1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ar-SA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Multi-Tenant</a:t>
            </a:r>
            <a:r>
              <a:rPr lang="ar-SA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SaaS</a:t>
            </a:r>
            <a:r>
              <a:rPr lang="ar-SA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Architecture</a:t>
            </a:r>
            <a:endParaRPr b="1" dirty="0">
              <a:solidFill>
                <a:schemeClr val="bg1"/>
              </a:solidFill>
              <a:latin typeface="Imprint MT Shadow" panose="04020605060303030202" pitchFamily="82" charset="0"/>
              <a:ea typeface="Baloo Paaji 2"/>
              <a:cs typeface="Baloo Paaji 2"/>
              <a:sym typeface="Baloo Paaji 2"/>
            </a:endParaRPr>
          </a:p>
        </p:txBody>
      </p:sp>
      <p:sp>
        <p:nvSpPr>
          <p:cNvPr id="910" name="Google Shape;910;p74"/>
          <p:cNvSpPr txBox="1"/>
          <p:nvPr/>
        </p:nvSpPr>
        <p:spPr>
          <a:xfrm>
            <a:off x="5935500" y="2229326"/>
            <a:ext cx="2587299" cy="325500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1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ar-SA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End-to-End</a:t>
            </a:r>
            <a:r>
              <a:rPr lang="ar-SA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Lifecycle</a:t>
            </a:r>
            <a:r>
              <a:rPr lang="ar-SA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Tracking</a:t>
            </a:r>
            <a:endParaRPr b="1" dirty="0">
              <a:solidFill>
                <a:schemeClr val="bg1"/>
              </a:solidFill>
              <a:latin typeface="Imprint MT Shadow" panose="04020605060303030202" pitchFamily="82" charset="0"/>
              <a:ea typeface="Baloo Paaji 2"/>
              <a:cs typeface="Baloo Paaji 2"/>
              <a:sym typeface="Baloo Paaji 2"/>
            </a:endParaRPr>
          </a:p>
        </p:txBody>
      </p:sp>
      <p:sp>
        <p:nvSpPr>
          <p:cNvPr id="911" name="Google Shape;911;p74"/>
          <p:cNvSpPr txBox="1"/>
          <p:nvPr/>
        </p:nvSpPr>
        <p:spPr>
          <a:xfrm>
            <a:off x="2478151" y="3870876"/>
            <a:ext cx="1882800" cy="325500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1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ar-SA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Hybrid</a:t>
            </a:r>
            <a:r>
              <a:rPr lang="ar-SA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Architecture</a:t>
            </a:r>
            <a:endParaRPr b="1" dirty="0">
              <a:solidFill>
                <a:schemeClr val="bg1"/>
              </a:solidFill>
              <a:latin typeface="Imprint MT Shadow" panose="04020605060303030202" pitchFamily="82" charset="0"/>
              <a:ea typeface="Baloo Paaji 2"/>
              <a:cs typeface="Baloo Paaji 2"/>
              <a:sym typeface="Baloo Paaji 2"/>
            </a:endParaRPr>
          </a:p>
        </p:txBody>
      </p:sp>
      <p:sp>
        <p:nvSpPr>
          <p:cNvPr id="912" name="Google Shape;912;p74"/>
          <p:cNvSpPr txBox="1"/>
          <p:nvPr/>
        </p:nvSpPr>
        <p:spPr>
          <a:xfrm>
            <a:off x="3579628" y="2229319"/>
            <a:ext cx="2034363" cy="325500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1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ar-SA" dirty="0">
                <a:solidFill>
                  <a:schemeClr val="bg1"/>
                </a:solidFill>
                <a:latin typeface="Imprint MT Shadow" panose="04020605060303030202" pitchFamily="82" charset="0"/>
              </a:rPr>
              <a:t>AI-</a:t>
            </a:r>
            <a:r>
              <a:rPr lang="ar-SA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Driven</a:t>
            </a:r>
            <a:r>
              <a:rPr lang="ar-SA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Automation</a:t>
            </a:r>
            <a:endParaRPr b="1" dirty="0">
              <a:solidFill>
                <a:schemeClr val="bg1"/>
              </a:solidFill>
              <a:latin typeface="Imprint MT Shadow" panose="04020605060303030202" pitchFamily="82" charset="0"/>
              <a:ea typeface="Baloo Paaji 2"/>
              <a:cs typeface="Baloo Paaji 2"/>
              <a:sym typeface="Baloo Paaji 2"/>
            </a:endParaRPr>
          </a:p>
        </p:txBody>
      </p:sp>
      <p:sp>
        <p:nvSpPr>
          <p:cNvPr id="913" name="Google Shape;913;p74"/>
          <p:cNvSpPr/>
          <p:nvPr/>
        </p:nvSpPr>
        <p:spPr>
          <a:xfrm>
            <a:off x="1944770" y="1449102"/>
            <a:ext cx="645000" cy="6279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Imprint MT Shadow" panose="04020605060303030202" pitchFamily="82" charset="0"/>
              <a:ea typeface="Baloo Paaji 2"/>
              <a:cs typeface="Baloo Paaji 2"/>
              <a:sym typeface="Baloo Paaji 2"/>
            </a:endParaRPr>
          </a:p>
        </p:txBody>
      </p:sp>
      <p:sp>
        <p:nvSpPr>
          <p:cNvPr id="914" name="Google Shape;914;p74"/>
          <p:cNvSpPr txBox="1"/>
          <p:nvPr/>
        </p:nvSpPr>
        <p:spPr>
          <a:xfrm>
            <a:off x="1828498" y="1567290"/>
            <a:ext cx="877200" cy="3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solidFill>
                  <a:schemeClr val="dk1"/>
                </a:solidFill>
                <a:latin typeface="Imprint MT Shadow" panose="04020605060303030202" pitchFamily="82" charset="0"/>
                <a:ea typeface="Baloo Paaji 2"/>
                <a:cs typeface="Baloo Paaji 2"/>
                <a:sym typeface="Baloo Paaji 2"/>
              </a:rPr>
              <a:t>1</a:t>
            </a:r>
            <a:endParaRPr sz="3000" b="1" dirty="0">
              <a:solidFill>
                <a:schemeClr val="dk1"/>
              </a:solidFill>
              <a:latin typeface="Imprint MT Shadow" panose="04020605060303030202" pitchFamily="82" charset="0"/>
              <a:ea typeface="Baloo Paaji 2"/>
              <a:cs typeface="Baloo Paaji 2"/>
              <a:sym typeface="Baloo Paaji 2"/>
            </a:endParaRPr>
          </a:p>
        </p:txBody>
      </p:sp>
      <p:cxnSp>
        <p:nvCxnSpPr>
          <p:cNvPr id="915" name="Google Shape;915;p74"/>
          <p:cNvCxnSpPr>
            <a:cxnSpLocks/>
            <a:stCxn id="909" idx="3"/>
            <a:endCxn id="912" idx="1"/>
          </p:cNvCxnSpPr>
          <p:nvPr/>
        </p:nvCxnSpPr>
        <p:spPr>
          <a:xfrm>
            <a:off x="3402419" y="2392069"/>
            <a:ext cx="177209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6" name="Google Shape;916;p74"/>
          <p:cNvCxnSpPr>
            <a:cxnSpLocks/>
            <a:stCxn id="912" idx="3"/>
            <a:endCxn id="910" idx="1"/>
          </p:cNvCxnSpPr>
          <p:nvPr/>
        </p:nvCxnSpPr>
        <p:spPr>
          <a:xfrm>
            <a:off x="5613991" y="2392069"/>
            <a:ext cx="321509" cy="7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7" name="Google Shape;917;p74"/>
          <p:cNvCxnSpPr>
            <a:cxnSpLocks/>
            <a:stCxn id="910" idx="3"/>
            <a:endCxn id="908" idx="3"/>
          </p:cNvCxnSpPr>
          <p:nvPr/>
        </p:nvCxnSpPr>
        <p:spPr>
          <a:xfrm flipH="1">
            <a:off x="7370349" y="2392076"/>
            <a:ext cx="1152450" cy="1641560"/>
          </a:xfrm>
          <a:prstGeom prst="bentConnector3">
            <a:avLst>
              <a:gd name="adj1" fmla="val -19836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8" name="Google Shape;918;p74"/>
          <p:cNvCxnSpPr>
            <a:cxnSpLocks/>
            <a:stCxn id="908" idx="1"/>
            <a:endCxn id="911" idx="3"/>
          </p:cNvCxnSpPr>
          <p:nvPr/>
        </p:nvCxnSpPr>
        <p:spPr>
          <a:xfrm flipH="1" flipV="1">
            <a:off x="4360951" y="4033626"/>
            <a:ext cx="422099" cy="1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19" name="Google Shape;919;p74"/>
          <p:cNvSpPr/>
          <p:nvPr/>
        </p:nvSpPr>
        <p:spPr>
          <a:xfrm>
            <a:off x="4249620" y="1449102"/>
            <a:ext cx="645000" cy="6279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Imprint MT Shadow" panose="04020605060303030202" pitchFamily="82" charset="0"/>
              <a:ea typeface="Baloo Paaji 2"/>
              <a:cs typeface="Baloo Paaji 2"/>
              <a:sym typeface="Baloo Paaji 2"/>
            </a:endParaRPr>
          </a:p>
        </p:txBody>
      </p:sp>
      <p:sp>
        <p:nvSpPr>
          <p:cNvPr id="920" name="Google Shape;920;p74"/>
          <p:cNvSpPr txBox="1"/>
          <p:nvPr/>
        </p:nvSpPr>
        <p:spPr>
          <a:xfrm>
            <a:off x="4133348" y="1567290"/>
            <a:ext cx="877200" cy="3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Imprint MT Shadow" panose="04020605060303030202" pitchFamily="82" charset="0"/>
                <a:ea typeface="Baloo Paaji 2"/>
                <a:cs typeface="Baloo Paaji 2"/>
                <a:sym typeface="Baloo Paaji 2"/>
              </a:rPr>
              <a:t>2</a:t>
            </a:r>
            <a:endParaRPr sz="3000" b="1">
              <a:solidFill>
                <a:schemeClr val="dk1"/>
              </a:solidFill>
              <a:latin typeface="Imprint MT Shadow" panose="04020605060303030202" pitchFamily="82" charset="0"/>
              <a:ea typeface="Baloo Paaji 2"/>
              <a:cs typeface="Baloo Paaji 2"/>
              <a:sym typeface="Baloo Paaji 2"/>
            </a:endParaRPr>
          </a:p>
        </p:txBody>
      </p:sp>
      <p:sp>
        <p:nvSpPr>
          <p:cNvPr id="921" name="Google Shape;921;p74"/>
          <p:cNvSpPr/>
          <p:nvPr/>
        </p:nvSpPr>
        <p:spPr>
          <a:xfrm>
            <a:off x="6554470" y="1449102"/>
            <a:ext cx="645000" cy="6279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Imprint MT Shadow" panose="04020605060303030202" pitchFamily="82" charset="0"/>
              <a:ea typeface="Baloo Paaji 2"/>
              <a:cs typeface="Baloo Paaji 2"/>
              <a:sym typeface="Baloo Paaji 2"/>
            </a:endParaRPr>
          </a:p>
        </p:txBody>
      </p:sp>
      <p:sp>
        <p:nvSpPr>
          <p:cNvPr id="922" name="Google Shape;922;p74"/>
          <p:cNvSpPr txBox="1"/>
          <p:nvPr/>
        </p:nvSpPr>
        <p:spPr>
          <a:xfrm>
            <a:off x="6438198" y="1567290"/>
            <a:ext cx="877200" cy="3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Imprint MT Shadow" panose="04020605060303030202" pitchFamily="82" charset="0"/>
                <a:ea typeface="Baloo Paaji 2"/>
                <a:cs typeface="Baloo Paaji 2"/>
                <a:sym typeface="Baloo Paaji 2"/>
              </a:rPr>
              <a:t>3</a:t>
            </a:r>
            <a:endParaRPr sz="3000" b="1">
              <a:solidFill>
                <a:schemeClr val="dk1"/>
              </a:solidFill>
              <a:latin typeface="Imprint MT Shadow" panose="04020605060303030202" pitchFamily="82" charset="0"/>
              <a:ea typeface="Baloo Paaji 2"/>
              <a:cs typeface="Baloo Paaji 2"/>
              <a:sym typeface="Baloo Paaji 2"/>
            </a:endParaRPr>
          </a:p>
        </p:txBody>
      </p:sp>
      <p:sp>
        <p:nvSpPr>
          <p:cNvPr id="923" name="Google Shape;923;p74"/>
          <p:cNvSpPr/>
          <p:nvPr/>
        </p:nvSpPr>
        <p:spPr>
          <a:xfrm>
            <a:off x="3097220" y="3090577"/>
            <a:ext cx="645000" cy="6279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Imprint MT Shadow" panose="04020605060303030202" pitchFamily="82" charset="0"/>
              <a:ea typeface="Baloo Paaji 2"/>
              <a:cs typeface="Baloo Paaji 2"/>
              <a:sym typeface="Baloo Paaji 2"/>
            </a:endParaRPr>
          </a:p>
        </p:txBody>
      </p:sp>
      <p:sp>
        <p:nvSpPr>
          <p:cNvPr id="924" name="Google Shape;924;p74"/>
          <p:cNvSpPr txBox="1"/>
          <p:nvPr/>
        </p:nvSpPr>
        <p:spPr>
          <a:xfrm>
            <a:off x="2980948" y="3208765"/>
            <a:ext cx="877200" cy="3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Imprint MT Shadow" panose="04020605060303030202" pitchFamily="82" charset="0"/>
                <a:ea typeface="Baloo Paaji 2"/>
                <a:cs typeface="Baloo Paaji 2"/>
                <a:sym typeface="Baloo Paaji 2"/>
              </a:rPr>
              <a:t>5</a:t>
            </a:r>
            <a:endParaRPr sz="3000" b="1">
              <a:solidFill>
                <a:schemeClr val="dk1"/>
              </a:solidFill>
              <a:latin typeface="Imprint MT Shadow" panose="04020605060303030202" pitchFamily="82" charset="0"/>
              <a:ea typeface="Baloo Paaji 2"/>
              <a:cs typeface="Baloo Paaji 2"/>
              <a:sym typeface="Baloo Paaji 2"/>
            </a:endParaRPr>
          </a:p>
        </p:txBody>
      </p:sp>
      <p:sp>
        <p:nvSpPr>
          <p:cNvPr id="925" name="Google Shape;925;p74"/>
          <p:cNvSpPr/>
          <p:nvPr/>
        </p:nvSpPr>
        <p:spPr>
          <a:xfrm>
            <a:off x="5402120" y="3090577"/>
            <a:ext cx="645000" cy="6279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Imprint MT Shadow" panose="04020605060303030202" pitchFamily="82" charset="0"/>
              <a:ea typeface="Baloo Paaji 2"/>
              <a:cs typeface="Baloo Paaji 2"/>
              <a:sym typeface="Baloo Paaji 2"/>
            </a:endParaRPr>
          </a:p>
        </p:txBody>
      </p:sp>
      <p:sp>
        <p:nvSpPr>
          <p:cNvPr id="926" name="Google Shape;926;p74"/>
          <p:cNvSpPr txBox="1"/>
          <p:nvPr/>
        </p:nvSpPr>
        <p:spPr>
          <a:xfrm>
            <a:off x="5285848" y="3208765"/>
            <a:ext cx="877200" cy="3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Imprint MT Shadow" panose="04020605060303030202" pitchFamily="82" charset="0"/>
                <a:ea typeface="Baloo Paaji 2"/>
                <a:cs typeface="Baloo Paaji 2"/>
                <a:sym typeface="Baloo Paaji 2"/>
              </a:rPr>
              <a:t>4</a:t>
            </a:r>
            <a:endParaRPr sz="3000" b="1">
              <a:solidFill>
                <a:schemeClr val="dk1"/>
              </a:solidFill>
              <a:latin typeface="Imprint MT Shadow" panose="04020605060303030202" pitchFamily="82" charset="0"/>
              <a:ea typeface="Baloo Paaji 2"/>
              <a:cs typeface="Baloo Paaji 2"/>
              <a:sym typeface="Baloo Paaji 2"/>
            </a:endParaRPr>
          </a:p>
        </p:txBody>
      </p:sp>
      <p:cxnSp>
        <p:nvCxnSpPr>
          <p:cNvPr id="10" name="Google Shape;917;p74">
            <a:extLst>
              <a:ext uri="{FF2B5EF4-FFF2-40B4-BE49-F238E27FC236}">
                <a16:creationId xmlns="" xmlns:a16="http://schemas.microsoft.com/office/drawing/2014/main" id="{59B75CE1-9508-97D5-DD97-02B840D382EC}"/>
              </a:ext>
            </a:extLst>
          </p:cNvPr>
          <p:cNvCxnSpPr>
            <a:cxnSpLocks/>
          </p:cNvCxnSpPr>
          <p:nvPr/>
        </p:nvCxnSpPr>
        <p:spPr>
          <a:xfrm rot="16200000" flipH="1">
            <a:off x="1113937" y="2616227"/>
            <a:ext cx="1428972" cy="1340018"/>
          </a:xfrm>
          <a:prstGeom prst="bentConnector2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74"/>
          <p:cNvSpPr txBox="1">
            <a:spLocks noGrp="1"/>
          </p:cNvSpPr>
          <p:nvPr>
            <p:ph type="title"/>
          </p:nvPr>
        </p:nvSpPr>
        <p:spPr>
          <a:xfrm>
            <a:off x="621100" y="348725"/>
            <a:ext cx="7901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3200" dirty="0"/>
              <a:t>Proposed Solution</a:t>
            </a:r>
            <a:endParaRPr sz="3200" dirty="0">
              <a:latin typeface="Imprint MT Shadow" panose="04020605060303030202" pitchFamily="82" charset="0"/>
            </a:endParaRPr>
          </a:p>
        </p:txBody>
      </p:sp>
      <p:sp>
        <p:nvSpPr>
          <p:cNvPr id="908" name="Google Shape;908;p74"/>
          <p:cNvSpPr txBox="1"/>
          <p:nvPr/>
        </p:nvSpPr>
        <p:spPr>
          <a:xfrm>
            <a:off x="5935500" y="3996822"/>
            <a:ext cx="2673547" cy="609813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1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dirty="0">
                <a:solidFill>
                  <a:schemeClr val="bg1"/>
                </a:solidFill>
                <a:latin typeface="Imprint MT Shadow" panose="04020605060303030202" pitchFamily="82" charset="0"/>
              </a:rPr>
              <a:t>Accountability &amp; Comprehensive Auditing (Audit Logs &amp; Notifications)</a:t>
            </a:r>
            <a:endParaRPr b="1" dirty="0">
              <a:solidFill>
                <a:schemeClr val="bg1"/>
              </a:solidFill>
              <a:latin typeface="Imprint MT Shadow" panose="04020605060303030202" pitchFamily="82" charset="0"/>
              <a:ea typeface="Baloo Paaji 2"/>
              <a:cs typeface="Baloo Paaji 2"/>
              <a:sym typeface="Baloo Paaji 2"/>
            </a:endParaRPr>
          </a:p>
        </p:txBody>
      </p:sp>
      <p:sp>
        <p:nvSpPr>
          <p:cNvPr id="909" name="Google Shape;909;p74"/>
          <p:cNvSpPr txBox="1"/>
          <p:nvPr/>
        </p:nvSpPr>
        <p:spPr>
          <a:xfrm>
            <a:off x="342156" y="2195190"/>
            <a:ext cx="3076254" cy="417546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1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dirty="0">
                <a:solidFill>
                  <a:schemeClr val="bg1"/>
                </a:solidFill>
                <a:latin typeface="Imprint MT Shadow" panose="04020605060303030202" pitchFamily="82" charset="0"/>
              </a:rPr>
              <a:t>Tenant Isolation &amp; Complete </a:t>
            </a:r>
            <a:r>
              <a:rPr lang="en-US" dirty="0" smtClean="0">
                <a:solidFill>
                  <a:schemeClr val="bg1"/>
                </a:solidFill>
                <a:latin typeface="Imprint MT Shadow" panose="04020605060303030202" pitchFamily="82" charset="0"/>
              </a:rPr>
              <a:t>Security</a:t>
            </a:r>
            <a:endParaRPr b="1" dirty="0">
              <a:solidFill>
                <a:schemeClr val="bg1"/>
              </a:solidFill>
              <a:latin typeface="Imprint MT Shadow" panose="04020605060303030202" pitchFamily="82" charset="0"/>
              <a:ea typeface="Baloo Paaji 2"/>
              <a:cs typeface="Baloo Paaji 2"/>
              <a:sym typeface="Baloo Paaji 2"/>
            </a:endParaRPr>
          </a:p>
        </p:txBody>
      </p:sp>
      <p:sp>
        <p:nvSpPr>
          <p:cNvPr id="910" name="Google Shape;910;p74"/>
          <p:cNvSpPr txBox="1"/>
          <p:nvPr/>
        </p:nvSpPr>
        <p:spPr>
          <a:xfrm>
            <a:off x="5935500" y="2236253"/>
            <a:ext cx="2587300" cy="342424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1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dirty="0" smtClean="0">
                <a:solidFill>
                  <a:schemeClr val="bg1"/>
                </a:solidFill>
                <a:latin typeface="Imprint MT Shadow" panose="04020605060303030202" pitchFamily="82" charset="0"/>
              </a:rPr>
              <a:t>Internal </a:t>
            </a:r>
            <a:r>
              <a:rPr lang="en-US" dirty="0">
                <a:solidFill>
                  <a:schemeClr val="bg1"/>
                </a:solidFill>
                <a:latin typeface="Imprint MT Shadow" panose="04020605060303030202" pitchFamily="82" charset="0"/>
              </a:rPr>
              <a:t>Complaint Lifecycle Management &amp; </a:t>
            </a:r>
            <a:r>
              <a:rPr lang="en-US" dirty="0" smtClean="0">
                <a:solidFill>
                  <a:schemeClr val="bg1"/>
                </a:solidFill>
                <a:latin typeface="Imprint MT Shadow" panose="04020605060303030202" pitchFamily="82" charset="0"/>
              </a:rPr>
              <a:t>Transparency</a:t>
            </a:r>
            <a:endParaRPr b="1" dirty="0">
              <a:solidFill>
                <a:schemeClr val="bg1"/>
              </a:solidFill>
              <a:latin typeface="Imprint MT Shadow" panose="04020605060303030202" pitchFamily="82" charset="0"/>
              <a:ea typeface="Baloo Paaji 2"/>
              <a:cs typeface="Baloo Paaji 2"/>
              <a:sym typeface="Baloo Paaji 2"/>
            </a:endParaRPr>
          </a:p>
        </p:txBody>
      </p:sp>
      <p:sp>
        <p:nvSpPr>
          <p:cNvPr id="911" name="Google Shape;911;p74"/>
          <p:cNvSpPr txBox="1"/>
          <p:nvPr/>
        </p:nvSpPr>
        <p:spPr>
          <a:xfrm>
            <a:off x="2980948" y="4104343"/>
            <a:ext cx="2540425" cy="377604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1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dirty="0">
                <a:solidFill>
                  <a:schemeClr val="bg1"/>
                </a:solidFill>
                <a:latin typeface="Imprint MT Shadow" panose="04020605060303030202" pitchFamily="82" charset="0"/>
              </a:rPr>
              <a:t>Ease of Setup &amp; Tenant Environment Configuration</a:t>
            </a:r>
            <a:endParaRPr b="1" dirty="0">
              <a:solidFill>
                <a:schemeClr val="bg1"/>
              </a:solidFill>
              <a:latin typeface="Imprint MT Shadow" panose="04020605060303030202" pitchFamily="82" charset="0"/>
              <a:ea typeface="Baloo Paaji 2"/>
              <a:cs typeface="Baloo Paaji 2"/>
              <a:sym typeface="Baloo Paaji 2"/>
            </a:endParaRPr>
          </a:p>
        </p:txBody>
      </p:sp>
      <p:sp>
        <p:nvSpPr>
          <p:cNvPr id="912" name="Google Shape;912;p74"/>
          <p:cNvSpPr txBox="1"/>
          <p:nvPr/>
        </p:nvSpPr>
        <p:spPr>
          <a:xfrm>
            <a:off x="3657760" y="2031550"/>
            <a:ext cx="2038390" cy="743046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1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dirty="0">
                <a:solidFill>
                  <a:schemeClr val="bg1"/>
                </a:solidFill>
                <a:latin typeface="Imprint MT Shadow" panose="04020605060303030202" pitchFamily="82" charset="0"/>
              </a:rPr>
              <a:t>AI-Powered Classification &amp; Intelligent Routing</a:t>
            </a:r>
            <a:endParaRPr b="1" dirty="0">
              <a:solidFill>
                <a:schemeClr val="bg1"/>
              </a:solidFill>
              <a:latin typeface="Imprint MT Shadow" panose="04020605060303030202" pitchFamily="82" charset="0"/>
              <a:ea typeface="Baloo Paaji 2"/>
              <a:cs typeface="Baloo Paaji 2"/>
              <a:sym typeface="Baloo Paaji 2"/>
            </a:endParaRPr>
          </a:p>
        </p:txBody>
      </p:sp>
      <p:sp>
        <p:nvSpPr>
          <p:cNvPr id="913" name="Google Shape;913;p74"/>
          <p:cNvSpPr/>
          <p:nvPr/>
        </p:nvSpPr>
        <p:spPr>
          <a:xfrm>
            <a:off x="1944770" y="1449102"/>
            <a:ext cx="645000" cy="6279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Imprint MT Shadow" panose="04020605060303030202" pitchFamily="82" charset="0"/>
              <a:ea typeface="Baloo Paaji 2"/>
              <a:cs typeface="Baloo Paaji 2"/>
              <a:sym typeface="Baloo Paaji 2"/>
            </a:endParaRPr>
          </a:p>
        </p:txBody>
      </p:sp>
      <p:sp>
        <p:nvSpPr>
          <p:cNvPr id="914" name="Google Shape;914;p74"/>
          <p:cNvSpPr txBox="1"/>
          <p:nvPr/>
        </p:nvSpPr>
        <p:spPr>
          <a:xfrm>
            <a:off x="1828498" y="1567290"/>
            <a:ext cx="877200" cy="3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solidFill>
                  <a:schemeClr val="dk1"/>
                </a:solidFill>
                <a:latin typeface="Imprint MT Shadow" panose="04020605060303030202" pitchFamily="82" charset="0"/>
                <a:ea typeface="Baloo Paaji 2"/>
                <a:cs typeface="Baloo Paaji 2"/>
                <a:sym typeface="Baloo Paaji 2"/>
              </a:rPr>
              <a:t>1</a:t>
            </a:r>
            <a:endParaRPr sz="3000" b="1" dirty="0">
              <a:solidFill>
                <a:schemeClr val="dk1"/>
              </a:solidFill>
              <a:latin typeface="Imprint MT Shadow" panose="04020605060303030202" pitchFamily="82" charset="0"/>
              <a:ea typeface="Baloo Paaji 2"/>
              <a:cs typeface="Baloo Paaji 2"/>
              <a:sym typeface="Baloo Paaji 2"/>
            </a:endParaRPr>
          </a:p>
        </p:txBody>
      </p:sp>
      <p:cxnSp>
        <p:nvCxnSpPr>
          <p:cNvPr id="915" name="Google Shape;915;p74"/>
          <p:cNvCxnSpPr>
            <a:cxnSpLocks/>
            <a:stCxn id="909" idx="3"/>
            <a:endCxn id="912" idx="1"/>
          </p:cNvCxnSpPr>
          <p:nvPr/>
        </p:nvCxnSpPr>
        <p:spPr>
          <a:xfrm flipV="1">
            <a:off x="3418410" y="2403073"/>
            <a:ext cx="239350" cy="89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6" name="Google Shape;916;p74"/>
          <p:cNvCxnSpPr>
            <a:cxnSpLocks/>
            <a:stCxn id="912" idx="3"/>
            <a:endCxn id="910" idx="1"/>
          </p:cNvCxnSpPr>
          <p:nvPr/>
        </p:nvCxnSpPr>
        <p:spPr>
          <a:xfrm>
            <a:off x="5696150" y="2403073"/>
            <a:ext cx="239350" cy="4392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7" name="Google Shape;917;p74"/>
          <p:cNvCxnSpPr>
            <a:cxnSpLocks/>
            <a:stCxn id="910" idx="3"/>
            <a:endCxn id="908" idx="3"/>
          </p:cNvCxnSpPr>
          <p:nvPr/>
        </p:nvCxnSpPr>
        <p:spPr>
          <a:xfrm>
            <a:off x="8522800" y="2407465"/>
            <a:ext cx="86247" cy="1894264"/>
          </a:xfrm>
          <a:prstGeom prst="bentConnector3">
            <a:avLst>
              <a:gd name="adj1" fmla="val 365053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8" name="Google Shape;918;p74"/>
          <p:cNvCxnSpPr>
            <a:cxnSpLocks/>
            <a:stCxn id="908" idx="1"/>
            <a:endCxn id="911" idx="3"/>
          </p:cNvCxnSpPr>
          <p:nvPr/>
        </p:nvCxnSpPr>
        <p:spPr>
          <a:xfrm flipH="1" flipV="1">
            <a:off x="5521373" y="4293145"/>
            <a:ext cx="414127" cy="8584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19" name="Google Shape;919;p74"/>
          <p:cNvSpPr/>
          <p:nvPr/>
        </p:nvSpPr>
        <p:spPr>
          <a:xfrm>
            <a:off x="4249620" y="1449102"/>
            <a:ext cx="645000" cy="6279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Imprint MT Shadow" panose="04020605060303030202" pitchFamily="82" charset="0"/>
              <a:ea typeface="Baloo Paaji 2"/>
              <a:cs typeface="Baloo Paaji 2"/>
              <a:sym typeface="Baloo Paaji 2"/>
            </a:endParaRPr>
          </a:p>
        </p:txBody>
      </p:sp>
      <p:sp>
        <p:nvSpPr>
          <p:cNvPr id="920" name="Google Shape;920;p74"/>
          <p:cNvSpPr txBox="1"/>
          <p:nvPr/>
        </p:nvSpPr>
        <p:spPr>
          <a:xfrm>
            <a:off x="4133348" y="1567290"/>
            <a:ext cx="877200" cy="3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Imprint MT Shadow" panose="04020605060303030202" pitchFamily="82" charset="0"/>
                <a:ea typeface="Baloo Paaji 2"/>
                <a:cs typeface="Baloo Paaji 2"/>
                <a:sym typeface="Baloo Paaji 2"/>
              </a:rPr>
              <a:t>2</a:t>
            </a:r>
            <a:endParaRPr sz="3000" b="1">
              <a:solidFill>
                <a:schemeClr val="dk1"/>
              </a:solidFill>
              <a:latin typeface="Imprint MT Shadow" panose="04020605060303030202" pitchFamily="82" charset="0"/>
              <a:ea typeface="Baloo Paaji 2"/>
              <a:cs typeface="Baloo Paaji 2"/>
              <a:sym typeface="Baloo Paaji 2"/>
            </a:endParaRPr>
          </a:p>
        </p:txBody>
      </p:sp>
      <p:sp>
        <p:nvSpPr>
          <p:cNvPr id="921" name="Google Shape;921;p74"/>
          <p:cNvSpPr/>
          <p:nvPr/>
        </p:nvSpPr>
        <p:spPr>
          <a:xfrm>
            <a:off x="6554470" y="1449102"/>
            <a:ext cx="645000" cy="6279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Imprint MT Shadow" panose="04020605060303030202" pitchFamily="82" charset="0"/>
              <a:ea typeface="Baloo Paaji 2"/>
              <a:cs typeface="Baloo Paaji 2"/>
              <a:sym typeface="Baloo Paaji 2"/>
            </a:endParaRPr>
          </a:p>
        </p:txBody>
      </p:sp>
      <p:sp>
        <p:nvSpPr>
          <p:cNvPr id="922" name="Google Shape;922;p74"/>
          <p:cNvSpPr txBox="1"/>
          <p:nvPr/>
        </p:nvSpPr>
        <p:spPr>
          <a:xfrm>
            <a:off x="6438198" y="1567290"/>
            <a:ext cx="877200" cy="3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Imprint MT Shadow" panose="04020605060303030202" pitchFamily="82" charset="0"/>
                <a:ea typeface="Baloo Paaji 2"/>
                <a:cs typeface="Baloo Paaji 2"/>
                <a:sym typeface="Baloo Paaji 2"/>
              </a:rPr>
              <a:t>3</a:t>
            </a:r>
            <a:endParaRPr sz="3000" b="1">
              <a:solidFill>
                <a:schemeClr val="dk1"/>
              </a:solidFill>
              <a:latin typeface="Imprint MT Shadow" panose="04020605060303030202" pitchFamily="82" charset="0"/>
              <a:ea typeface="Baloo Paaji 2"/>
              <a:cs typeface="Baloo Paaji 2"/>
              <a:sym typeface="Baloo Paaji 2"/>
            </a:endParaRPr>
          </a:p>
        </p:txBody>
      </p:sp>
      <p:sp>
        <p:nvSpPr>
          <p:cNvPr id="923" name="Google Shape;923;p74"/>
          <p:cNvSpPr/>
          <p:nvPr/>
        </p:nvSpPr>
        <p:spPr>
          <a:xfrm>
            <a:off x="4205738" y="3221547"/>
            <a:ext cx="645000" cy="6279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Imprint MT Shadow" panose="04020605060303030202" pitchFamily="82" charset="0"/>
              <a:ea typeface="Baloo Paaji 2"/>
              <a:cs typeface="Baloo Paaji 2"/>
              <a:sym typeface="Baloo Paaji 2"/>
            </a:endParaRPr>
          </a:p>
        </p:txBody>
      </p:sp>
      <p:sp>
        <p:nvSpPr>
          <p:cNvPr id="924" name="Google Shape;924;p74"/>
          <p:cNvSpPr txBox="1"/>
          <p:nvPr/>
        </p:nvSpPr>
        <p:spPr>
          <a:xfrm>
            <a:off x="4089466" y="3339735"/>
            <a:ext cx="877200" cy="3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Imprint MT Shadow" panose="04020605060303030202" pitchFamily="82" charset="0"/>
                <a:ea typeface="Baloo Paaji 2"/>
                <a:cs typeface="Baloo Paaji 2"/>
                <a:sym typeface="Baloo Paaji 2"/>
              </a:rPr>
              <a:t>5</a:t>
            </a:r>
            <a:endParaRPr sz="3000" b="1">
              <a:solidFill>
                <a:schemeClr val="dk1"/>
              </a:solidFill>
              <a:latin typeface="Imprint MT Shadow" panose="04020605060303030202" pitchFamily="82" charset="0"/>
              <a:ea typeface="Baloo Paaji 2"/>
              <a:cs typeface="Baloo Paaji 2"/>
              <a:sym typeface="Baloo Paaji 2"/>
            </a:endParaRPr>
          </a:p>
        </p:txBody>
      </p:sp>
      <p:sp>
        <p:nvSpPr>
          <p:cNvPr id="925" name="Google Shape;925;p74"/>
          <p:cNvSpPr/>
          <p:nvPr/>
        </p:nvSpPr>
        <p:spPr>
          <a:xfrm>
            <a:off x="7449793" y="3171160"/>
            <a:ext cx="645000" cy="6279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Imprint MT Shadow" panose="04020605060303030202" pitchFamily="82" charset="0"/>
              <a:ea typeface="Baloo Paaji 2"/>
              <a:cs typeface="Baloo Paaji 2"/>
              <a:sym typeface="Baloo Paaji 2"/>
            </a:endParaRPr>
          </a:p>
        </p:txBody>
      </p:sp>
      <p:sp>
        <p:nvSpPr>
          <p:cNvPr id="926" name="Google Shape;926;p74"/>
          <p:cNvSpPr txBox="1"/>
          <p:nvPr/>
        </p:nvSpPr>
        <p:spPr>
          <a:xfrm>
            <a:off x="7358893" y="3297744"/>
            <a:ext cx="877200" cy="3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solidFill>
                  <a:schemeClr val="dk1"/>
                </a:solidFill>
                <a:latin typeface="Imprint MT Shadow" panose="04020605060303030202" pitchFamily="82" charset="0"/>
                <a:ea typeface="Baloo Paaji 2"/>
                <a:cs typeface="Baloo Paaji 2"/>
                <a:sym typeface="Baloo Paaji 2"/>
              </a:rPr>
              <a:t>4</a:t>
            </a:r>
            <a:endParaRPr sz="3000" b="1" dirty="0">
              <a:solidFill>
                <a:schemeClr val="dk1"/>
              </a:solidFill>
              <a:latin typeface="Imprint MT Shadow" panose="04020605060303030202" pitchFamily="82" charset="0"/>
              <a:ea typeface="Baloo Paaji 2"/>
              <a:cs typeface="Baloo Paaji 2"/>
              <a:sym typeface="Baloo Paaji 2"/>
            </a:endParaRPr>
          </a:p>
        </p:txBody>
      </p:sp>
      <p:cxnSp>
        <p:nvCxnSpPr>
          <p:cNvPr id="10" name="Google Shape;917;p74">
            <a:extLst>
              <a:ext uri="{FF2B5EF4-FFF2-40B4-BE49-F238E27FC236}">
                <a16:creationId xmlns="" xmlns:a16="http://schemas.microsoft.com/office/drawing/2014/main" id="{59B75CE1-9508-97D5-DD97-02B840D382EC}"/>
              </a:ext>
            </a:extLst>
          </p:cNvPr>
          <p:cNvCxnSpPr>
            <a:cxnSpLocks/>
            <a:stCxn id="23" idx="3"/>
            <a:endCxn id="911" idx="1"/>
          </p:cNvCxnSpPr>
          <p:nvPr/>
        </p:nvCxnSpPr>
        <p:spPr>
          <a:xfrm>
            <a:off x="2396002" y="4291098"/>
            <a:ext cx="584946" cy="2047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Google Shape;911;p74"/>
          <p:cNvSpPr txBox="1"/>
          <p:nvPr/>
        </p:nvSpPr>
        <p:spPr>
          <a:xfrm>
            <a:off x="513202" y="4128348"/>
            <a:ext cx="1882800" cy="325500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1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dirty="0">
                <a:solidFill>
                  <a:schemeClr val="bg1"/>
                </a:solidFill>
                <a:latin typeface="Imprint MT Shadow" panose="04020605060303030202" pitchFamily="82" charset="0"/>
              </a:rPr>
              <a:t>Hybrid Architecture &amp; Scalability</a:t>
            </a:r>
            <a:endParaRPr b="1" dirty="0">
              <a:solidFill>
                <a:schemeClr val="bg1"/>
              </a:solidFill>
              <a:latin typeface="Imprint MT Shadow" panose="04020605060303030202" pitchFamily="82" charset="0"/>
              <a:ea typeface="Baloo Paaji 2"/>
              <a:cs typeface="Baloo Paaji 2"/>
              <a:sym typeface="Baloo Paaji 2"/>
            </a:endParaRPr>
          </a:p>
        </p:txBody>
      </p:sp>
      <p:sp>
        <p:nvSpPr>
          <p:cNvPr id="24" name="Google Shape;923;p74"/>
          <p:cNvSpPr/>
          <p:nvPr/>
        </p:nvSpPr>
        <p:spPr>
          <a:xfrm>
            <a:off x="1132271" y="3285703"/>
            <a:ext cx="645000" cy="6279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Imprint MT Shadow" panose="04020605060303030202" pitchFamily="82" charset="0"/>
              <a:ea typeface="Baloo Paaji 2"/>
              <a:cs typeface="Baloo Paaji 2"/>
              <a:sym typeface="Baloo Paaji 2"/>
            </a:endParaRPr>
          </a:p>
        </p:txBody>
      </p:sp>
      <p:sp>
        <p:nvSpPr>
          <p:cNvPr id="25" name="Google Shape;924;p74"/>
          <p:cNvSpPr txBox="1"/>
          <p:nvPr/>
        </p:nvSpPr>
        <p:spPr>
          <a:xfrm>
            <a:off x="1015999" y="3403891"/>
            <a:ext cx="877200" cy="3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3000" b="1" dirty="0" smtClean="0">
                <a:solidFill>
                  <a:schemeClr val="dk1"/>
                </a:solidFill>
                <a:latin typeface="Imprint MT Shadow" panose="04020605060303030202" pitchFamily="82" charset="0"/>
                <a:ea typeface="Baloo Paaji 2"/>
                <a:cs typeface="Baloo Paaji 2"/>
                <a:sym typeface="Baloo Paaji 2"/>
              </a:rPr>
              <a:t>6</a:t>
            </a:r>
            <a:endParaRPr sz="3000" b="1" dirty="0">
              <a:solidFill>
                <a:schemeClr val="dk1"/>
              </a:solidFill>
              <a:latin typeface="Imprint MT Shadow" panose="04020605060303030202" pitchFamily="82" charset="0"/>
              <a:ea typeface="Baloo Paaji 2"/>
              <a:cs typeface="Baloo Paaji 2"/>
              <a:sym typeface="Baloo Paaji 2"/>
            </a:endParaRPr>
          </a:p>
        </p:txBody>
      </p:sp>
      <p:cxnSp>
        <p:nvCxnSpPr>
          <p:cNvPr id="50" name="Google Shape;917;p74">
            <a:extLst>
              <a:ext uri="{FF2B5EF4-FFF2-40B4-BE49-F238E27FC236}">
                <a16:creationId xmlns="" xmlns:a16="http://schemas.microsoft.com/office/drawing/2014/main" id="{59B75CE1-9508-97D5-DD97-02B840D382EC}"/>
              </a:ext>
            </a:extLst>
          </p:cNvPr>
          <p:cNvCxnSpPr>
            <a:cxnSpLocks/>
            <a:stCxn id="909" idx="1"/>
            <a:endCxn id="23" idx="1"/>
          </p:cNvCxnSpPr>
          <p:nvPr/>
        </p:nvCxnSpPr>
        <p:spPr>
          <a:xfrm rot="10800000" flipH="1" flipV="1">
            <a:off x="342156" y="2403962"/>
            <a:ext cx="171046" cy="1887135"/>
          </a:xfrm>
          <a:prstGeom prst="bentConnector3">
            <a:avLst>
              <a:gd name="adj1" fmla="val -133648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228243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عنوان 2">
            <a:extLst>
              <a:ext uri="{FF2B5EF4-FFF2-40B4-BE49-F238E27FC236}">
                <a16:creationId xmlns="" xmlns:a16="http://schemas.microsoft.com/office/drawing/2014/main" id="{DC543B8C-0C49-742C-40E0-BAC3FDEC4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150" y="82593"/>
            <a:ext cx="7901700" cy="586941"/>
          </a:xfrm>
        </p:spPr>
        <p:txBody>
          <a:bodyPr/>
          <a:lstStyle/>
          <a:p>
            <a:pPr algn="ctr"/>
            <a:r>
              <a:rPr lang="ar-SA" sz="2800" dirty="0" err="1">
                <a:latin typeface="Imprint MT Shadow" panose="04020605060303030202" pitchFamily="82" charset="0"/>
              </a:rPr>
              <a:t>Reference</a:t>
            </a:r>
            <a:r>
              <a:rPr lang="ar-SA" sz="2800" dirty="0">
                <a:latin typeface="Imprint MT Shadow" panose="04020605060303030202" pitchFamily="82" charset="0"/>
              </a:rPr>
              <a:t> </a:t>
            </a:r>
            <a:r>
              <a:rPr lang="ar-SA" sz="2800" dirty="0" err="1">
                <a:latin typeface="Imprint MT Shadow" panose="04020605060303030202" pitchFamily="82" charset="0"/>
              </a:rPr>
              <a:t>Study</a:t>
            </a:r>
            <a:r>
              <a:rPr lang="ar-SA" sz="2800" dirty="0">
                <a:latin typeface="Imprint MT Shadow" panose="04020605060303030202" pitchFamily="82" charset="0"/>
              </a:rPr>
              <a:t> </a:t>
            </a:r>
            <a:r>
              <a:rPr lang="ar-SA" sz="2800" dirty="0" err="1">
                <a:latin typeface="Imprint MT Shadow" panose="04020605060303030202" pitchFamily="82" charset="0"/>
              </a:rPr>
              <a:t>Comparative</a:t>
            </a:r>
            <a:r>
              <a:rPr lang="ar-SA" sz="2800" dirty="0">
                <a:latin typeface="Imprint MT Shadow" panose="04020605060303030202" pitchFamily="82" charset="0"/>
              </a:rPr>
              <a:t> </a:t>
            </a:r>
            <a:r>
              <a:rPr lang="ar-SA" sz="2800" dirty="0" err="1">
                <a:latin typeface="Imprint MT Shadow" panose="04020605060303030202" pitchFamily="82" charset="0"/>
              </a:rPr>
              <a:t>Table</a:t>
            </a:r>
            <a:r>
              <a:rPr lang="ar-SA" sz="2800" dirty="0">
                <a:latin typeface="Imprint MT Shadow" panose="04020605060303030202" pitchFamily="82" charset="0"/>
              </a:rPr>
              <a:t> :</a:t>
            </a:r>
          </a:p>
        </p:txBody>
      </p:sp>
      <p:sp>
        <p:nvSpPr>
          <p:cNvPr id="4" name="مربع نص 3">
            <a:extLst>
              <a:ext uri="{FF2B5EF4-FFF2-40B4-BE49-F238E27FC236}">
                <a16:creationId xmlns="" xmlns:a16="http://schemas.microsoft.com/office/drawing/2014/main" id="{D678E691-085C-75FE-4A6D-3EE2B3C0090D}"/>
              </a:ext>
            </a:extLst>
          </p:cNvPr>
          <p:cNvSpPr txBox="1"/>
          <p:nvPr/>
        </p:nvSpPr>
        <p:spPr>
          <a:xfrm>
            <a:off x="0" y="798712"/>
            <a:ext cx="3352799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sz="1800" b="1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Feature-by-Feature</a:t>
            </a:r>
            <a:r>
              <a:rPr lang="ar-SA" sz="1800" b="1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800" b="1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Analysis</a:t>
            </a:r>
            <a:endParaRPr lang="ar-SA" sz="1800" dirty="0">
              <a:solidFill>
                <a:schemeClr val="bg1"/>
              </a:solidFill>
              <a:latin typeface="Imprint MT Shadow" panose="04020605060303030202" pitchFamily="82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="" xmlns:a16="http://schemas.microsoft.com/office/drawing/2014/main" id="{85707D53-AA81-1CF3-D4DA-EF543C4CA8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4425304"/>
              </p:ext>
            </p:extLst>
          </p:nvPr>
        </p:nvGraphicFramePr>
        <p:xfrm>
          <a:off x="154983" y="1127224"/>
          <a:ext cx="8423330" cy="3726552"/>
        </p:xfrm>
        <a:graphic>
          <a:graphicData uri="http://schemas.openxmlformats.org/drawingml/2006/table">
            <a:tbl>
              <a:tblPr firstRow="1" firstCol="1" bandRow="1">
                <a:tableStyleId>{7D2B1C80-A054-44BF-9762-63EE74661326}</a:tableStyleId>
              </a:tblPr>
              <a:tblGrid>
                <a:gridCol w="2421963">
                  <a:extLst>
                    <a:ext uri="{9D8B030D-6E8A-4147-A177-3AD203B41FA5}">
                      <a16:colId xmlns="" xmlns:a16="http://schemas.microsoft.com/office/drawing/2014/main" val="709800292"/>
                    </a:ext>
                  </a:extLst>
                </a:gridCol>
                <a:gridCol w="1053305">
                  <a:extLst>
                    <a:ext uri="{9D8B030D-6E8A-4147-A177-3AD203B41FA5}">
                      <a16:colId xmlns="" xmlns:a16="http://schemas.microsoft.com/office/drawing/2014/main" val="1001902654"/>
                    </a:ext>
                  </a:extLst>
                </a:gridCol>
                <a:gridCol w="1154921">
                  <a:extLst>
                    <a:ext uri="{9D8B030D-6E8A-4147-A177-3AD203B41FA5}">
                      <a16:colId xmlns="" xmlns:a16="http://schemas.microsoft.com/office/drawing/2014/main" val="519399665"/>
                    </a:ext>
                  </a:extLst>
                </a:gridCol>
                <a:gridCol w="1154921">
                  <a:extLst>
                    <a:ext uri="{9D8B030D-6E8A-4147-A177-3AD203B41FA5}">
                      <a16:colId xmlns="" xmlns:a16="http://schemas.microsoft.com/office/drawing/2014/main" val="1893287771"/>
                    </a:ext>
                  </a:extLst>
                </a:gridCol>
                <a:gridCol w="1155621">
                  <a:extLst>
                    <a:ext uri="{9D8B030D-6E8A-4147-A177-3AD203B41FA5}">
                      <a16:colId xmlns="" xmlns:a16="http://schemas.microsoft.com/office/drawing/2014/main" val="2531216704"/>
                    </a:ext>
                  </a:extLst>
                </a:gridCol>
                <a:gridCol w="1482599">
                  <a:extLst>
                    <a:ext uri="{9D8B030D-6E8A-4147-A177-3AD203B41FA5}">
                      <a16:colId xmlns="" xmlns:a16="http://schemas.microsoft.com/office/drawing/2014/main" val="4141163971"/>
                    </a:ext>
                  </a:extLst>
                </a:gridCol>
              </a:tblGrid>
              <a:tr h="47946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solidFill>
                            <a:schemeClr val="bg2"/>
                          </a:solidFill>
                          <a:effectLst/>
                        </a:rPr>
                        <a:t>System feature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94" marR="4319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solidFill>
                            <a:schemeClr val="bg2"/>
                          </a:solidFill>
                          <a:effectLst/>
                        </a:rPr>
                        <a:t>Zendesk</a:t>
                      </a:r>
                      <a:endParaRPr lang="en-US" sz="1200" b="1" kern="100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94" marR="4319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solidFill>
                            <a:schemeClr val="bg2"/>
                          </a:solidFill>
                          <a:effectLst/>
                        </a:rPr>
                        <a:t>Freshdesk</a:t>
                      </a:r>
                      <a:endParaRPr lang="en-US" sz="1200" b="1" kern="100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94" marR="4319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 err="1">
                          <a:solidFill>
                            <a:schemeClr val="bg2"/>
                          </a:solidFill>
                          <a:effectLst/>
                        </a:rPr>
                        <a:t>Os</a:t>
                      </a:r>
                      <a:r>
                        <a:rPr lang="en-US" sz="1200" b="1" kern="100" dirty="0">
                          <a:solidFill>
                            <a:schemeClr val="bg2"/>
                          </a:solidFill>
                          <a:effectLst/>
                        </a:rPr>
                        <a:t> Ticket</a:t>
                      </a:r>
                      <a:endParaRPr lang="en-US" sz="1200" b="1" kern="100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94" marR="4319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solidFill>
                            <a:schemeClr val="bg2"/>
                          </a:solidFill>
                          <a:effectLst/>
                        </a:rPr>
                        <a:t>Remedy (BMC</a:t>
                      </a:r>
                      <a:r>
                        <a:rPr lang="en-US" sz="1200" kern="100" dirty="0">
                          <a:solidFill>
                            <a:schemeClr val="bg2"/>
                          </a:solidFill>
                          <a:effectLst/>
                        </a:rPr>
                        <a:t>)</a:t>
                      </a:r>
                      <a:endParaRPr lang="en-US" sz="1200" kern="100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94" marR="4319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solidFill>
                            <a:schemeClr val="bg2"/>
                          </a:solidFill>
                          <a:effectLst/>
                        </a:rPr>
                        <a:t>Our System</a:t>
                      </a:r>
                      <a:endParaRPr lang="en-US" sz="1200" b="1" kern="100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94" marR="43194" marT="0" marB="0"/>
                </a:tc>
                <a:extLst>
                  <a:ext uri="{0D108BD9-81ED-4DB2-BD59-A6C34878D82A}">
                    <a16:rowId xmlns="" xmlns:a16="http://schemas.microsoft.com/office/drawing/2014/main" val="3172595211"/>
                  </a:ext>
                </a:extLst>
              </a:tr>
              <a:tr h="47946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100" kern="100" dirty="0">
                          <a:solidFill>
                            <a:schemeClr val="bg2"/>
                          </a:solidFill>
                          <a:effectLst/>
                        </a:rPr>
                        <a:t>هيكلية متعددة المستاجرين</a:t>
                      </a:r>
                      <a:endParaRPr lang="en-US" sz="1100" kern="100" dirty="0">
                        <a:solidFill>
                          <a:schemeClr val="bg2"/>
                        </a:solidFill>
                        <a:effectLst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chemeClr val="bg2"/>
                          </a:solidFill>
                          <a:effectLst/>
                        </a:rPr>
                        <a:t>(multi-tenant)</a:t>
                      </a:r>
                      <a:endParaRPr lang="en-US" sz="1100" kern="100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94" marR="43194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solidFill>
                            <a:schemeClr val="bg2"/>
                          </a:solidFill>
                          <a:effectLst/>
                        </a:rPr>
                        <a:t>✓</a:t>
                      </a:r>
                      <a:endParaRPr lang="en-US" sz="1200" kern="100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94" marR="4319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solidFill>
                            <a:schemeClr val="bg2"/>
                          </a:solidFill>
                          <a:effectLst/>
                        </a:rPr>
                        <a:t>✓</a:t>
                      </a:r>
                      <a:endParaRPr lang="en-US" sz="1200" kern="100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94" marR="4319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solidFill>
                            <a:schemeClr val="bg2"/>
                          </a:solidFill>
                          <a:effectLst/>
                        </a:rPr>
                        <a:t>✗</a:t>
                      </a:r>
                      <a:endParaRPr lang="en-US" sz="1200" kern="100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94" marR="4319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solidFill>
                            <a:schemeClr val="bg2"/>
                          </a:solidFill>
                          <a:effectLst/>
                        </a:rPr>
                        <a:t>✓</a:t>
                      </a:r>
                      <a:endParaRPr lang="en-US" sz="1200" kern="100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94" marR="4319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solidFill>
                            <a:schemeClr val="bg2"/>
                          </a:solidFill>
                          <a:effectLst/>
                        </a:rPr>
                        <a:t>✓</a:t>
                      </a:r>
                      <a:endParaRPr lang="en-US" sz="1200" kern="100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94" marR="43194" marT="0" marB="0"/>
                </a:tc>
                <a:extLst>
                  <a:ext uri="{0D108BD9-81ED-4DB2-BD59-A6C34878D82A}">
                    <a16:rowId xmlns="" xmlns:a16="http://schemas.microsoft.com/office/drawing/2014/main" val="1821153657"/>
                  </a:ext>
                </a:extLst>
              </a:tr>
              <a:tr h="47946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100" kern="100" dirty="0">
                          <a:solidFill>
                            <a:schemeClr val="bg2"/>
                          </a:solidFill>
                          <a:effectLst/>
                        </a:rPr>
                        <a:t>معالجة متقدمة للغة العربية</a:t>
                      </a:r>
                      <a:endParaRPr lang="en-US" sz="1100" kern="100" dirty="0">
                        <a:solidFill>
                          <a:schemeClr val="bg2"/>
                        </a:solidFill>
                        <a:effectLst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100" kern="100" dirty="0">
                          <a:solidFill>
                            <a:schemeClr val="bg2"/>
                          </a:solidFill>
                          <a:effectLst/>
                        </a:rPr>
                        <a:t>)</a:t>
                      </a:r>
                      <a:r>
                        <a:rPr lang="en-US" sz="1100" kern="100" dirty="0">
                          <a:solidFill>
                            <a:schemeClr val="bg2"/>
                          </a:solidFill>
                          <a:effectLst/>
                        </a:rPr>
                        <a:t>Arabic NLP)</a:t>
                      </a:r>
                      <a:endParaRPr lang="en-US" sz="1100" kern="100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94" marR="4319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solidFill>
                            <a:schemeClr val="bg2"/>
                          </a:solidFill>
                          <a:effectLst/>
                        </a:rPr>
                        <a:t>✗</a:t>
                      </a:r>
                      <a:endParaRPr lang="en-US" sz="12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94" marR="4319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solidFill>
                            <a:schemeClr val="bg2"/>
                          </a:solidFill>
                          <a:effectLst/>
                        </a:rPr>
                        <a:t>✗</a:t>
                      </a:r>
                      <a:endParaRPr lang="en-US" sz="1200" kern="100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94" marR="4319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solidFill>
                            <a:schemeClr val="bg2"/>
                          </a:solidFill>
                          <a:effectLst/>
                        </a:rPr>
                        <a:t>✗</a:t>
                      </a:r>
                      <a:endParaRPr lang="en-US" sz="12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94" marR="4319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solidFill>
                            <a:schemeClr val="bg2"/>
                          </a:solidFill>
                          <a:effectLst/>
                        </a:rPr>
                        <a:t>✗</a:t>
                      </a:r>
                      <a:endParaRPr lang="en-US" sz="1200" kern="100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94" marR="4319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solidFill>
                            <a:schemeClr val="bg2"/>
                          </a:solidFill>
                          <a:effectLst/>
                        </a:rPr>
                        <a:t>✓</a:t>
                      </a:r>
                      <a:endParaRPr lang="en-US" sz="1200" kern="100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94" marR="43194" marT="0" marB="0"/>
                </a:tc>
                <a:extLst>
                  <a:ext uri="{0D108BD9-81ED-4DB2-BD59-A6C34878D82A}">
                    <a16:rowId xmlns="" xmlns:a16="http://schemas.microsoft.com/office/drawing/2014/main" val="2777725802"/>
                  </a:ext>
                </a:extLst>
              </a:tr>
              <a:tr h="18547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100" kern="100">
                          <a:solidFill>
                            <a:schemeClr val="bg2"/>
                          </a:solidFill>
                          <a:effectLst/>
                        </a:rPr>
                        <a:t>التصنيف التلقائي للشكاوي بالذكاء الاصطناعي</a:t>
                      </a:r>
                      <a:endParaRPr lang="en-US" sz="11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94" marR="43194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 dirty="0">
                          <a:solidFill>
                            <a:schemeClr val="bg2"/>
                          </a:solidFill>
                          <a:effectLst/>
                        </a:rPr>
                        <a:t>✓</a:t>
                      </a:r>
                      <a:endParaRPr lang="en-US" sz="800" kern="100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94" marR="4319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solidFill>
                            <a:schemeClr val="bg2"/>
                          </a:solidFill>
                          <a:effectLst/>
                        </a:rPr>
                        <a:t>✓</a:t>
                      </a:r>
                      <a:endParaRPr lang="en-US" sz="8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94" marR="4319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solidFill>
                            <a:schemeClr val="bg2"/>
                          </a:solidFill>
                          <a:effectLst/>
                        </a:rPr>
                        <a:t>✗</a:t>
                      </a:r>
                      <a:endParaRPr lang="en-US" sz="8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94" marR="4319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 dirty="0">
                          <a:solidFill>
                            <a:schemeClr val="bg2"/>
                          </a:solidFill>
                          <a:effectLst/>
                        </a:rPr>
                        <a:t>✓</a:t>
                      </a:r>
                      <a:endParaRPr lang="en-US" sz="800" kern="100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94" marR="4319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 dirty="0">
                          <a:solidFill>
                            <a:schemeClr val="bg2"/>
                          </a:solidFill>
                          <a:effectLst/>
                        </a:rPr>
                        <a:t>✓</a:t>
                      </a:r>
                      <a:endParaRPr lang="en-US" sz="800" kern="100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94" marR="43194" marT="0" marB="0"/>
                </a:tc>
                <a:extLst>
                  <a:ext uri="{0D108BD9-81ED-4DB2-BD59-A6C34878D82A}">
                    <a16:rowId xmlns="" xmlns:a16="http://schemas.microsoft.com/office/drawing/2014/main" val="2639818431"/>
                  </a:ext>
                </a:extLst>
              </a:tr>
              <a:tr h="47946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100" kern="100" dirty="0">
                          <a:solidFill>
                            <a:schemeClr val="bg2"/>
                          </a:solidFill>
                          <a:effectLst/>
                        </a:rPr>
                        <a:t>التوجيه الذكي للشكاوي</a:t>
                      </a:r>
                      <a:endParaRPr lang="en-US" sz="1100" kern="100" dirty="0">
                        <a:solidFill>
                          <a:schemeClr val="bg2"/>
                        </a:solidFill>
                        <a:effectLst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chemeClr val="bg2"/>
                          </a:solidFill>
                          <a:effectLst/>
                        </a:rPr>
                        <a:t>(Intelligent Routing)</a:t>
                      </a:r>
                      <a:endParaRPr lang="en-US" sz="1100" kern="100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94" marR="4319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solidFill>
                            <a:schemeClr val="bg2"/>
                          </a:solidFill>
                          <a:effectLst/>
                        </a:rPr>
                        <a:t>✓</a:t>
                      </a:r>
                      <a:endParaRPr lang="en-US" sz="8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94" marR="4319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 dirty="0">
                          <a:solidFill>
                            <a:schemeClr val="bg2"/>
                          </a:solidFill>
                          <a:effectLst/>
                        </a:rPr>
                        <a:t>✓</a:t>
                      </a:r>
                      <a:endParaRPr lang="en-US" sz="800" kern="100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94" marR="4319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solidFill>
                            <a:schemeClr val="bg2"/>
                          </a:solidFill>
                          <a:effectLst/>
                        </a:rPr>
                        <a:t>✗</a:t>
                      </a:r>
                      <a:endParaRPr lang="en-US" sz="8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94" marR="4319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solidFill>
                            <a:schemeClr val="bg2"/>
                          </a:solidFill>
                          <a:effectLst/>
                        </a:rPr>
                        <a:t>✓</a:t>
                      </a:r>
                      <a:endParaRPr lang="en-US" sz="8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94" marR="4319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 dirty="0">
                          <a:solidFill>
                            <a:schemeClr val="bg2"/>
                          </a:solidFill>
                          <a:effectLst/>
                        </a:rPr>
                        <a:t>✓</a:t>
                      </a:r>
                      <a:endParaRPr lang="en-US" sz="800" kern="100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94" marR="43194" marT="0" marB="0"/>
                </a:tc>
                <a:extLst>
                  <a:ext uri="{0D108BD9-81ED-4DB2-BD59-A6C34878D82A}">
                    <a16:rowId xmlns="" xmlns:a16="http://schemas.microsoft.com/office/drawing/2014/main" val="3580218938"/>
                  </a:ext>
                </a:extLst>
              </a:tr>
              <a:tr h="47946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100" kern="100" dirty="0">
                          <a:solidFill>
                            <a:schemeClr val="bg2"/>
                          </a:solidFill>
                          <a:effectLst/>
                        </a:rPr>
                        <a:t>لوحات تقدم وتقارير متقدمة </a:t>
                      </a:r>
                      <a:endParaRPr lang="en-US" sz="1100" kern="100" dirty="0">
                        <a:solidFill>
                          <a:schemeClr val="bg2"/>
                        </a:solidFill>
                        <a:effectLst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chemeClr val="bg2"/>
                          </a:solidFill>
                          <a:effectLst/>
                        </a:rPr>
                        <a:t>(Analytics)</a:t>
                      </a:r>
                      <a:endParaRPr lang="en-US" sz="1100" kern="100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94" marR="4319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solidFill>
                            <a:schemeClr val="bg2"/>
                          </a:solidFill>
                          <a:effectLst/>
                        </a:rPr>
                        <a:t>✓</a:t>
                      </a:r>
                      <a:endParaRPr lang="en-US" sz="8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94" marR="4319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solidFill>
                            <a:schemeClr val="bg2"/>
                          </a:solidFill>
                          <a:effectLst/>
                        </a:rPr>
                        <a:t>✓</a:t>
                      </a:r>
                      <a:endParaRPr lang="en-US" sz="8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94" marR="4319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 dirty="0">
                          <a:solidFill>
                            <a:schemeClr val="bg2"/>
                          </a:solidFill>
                          <a:effectLst/>
                        </a:rPr>
                        <a:t>✗</a:t>
                      </a:r>
                      <a:endParaRPr lang="en-US" sz="800" kern="100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94" marR="4319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solidFill>
                            <a:schemeClr val="bg2"/>
                          </a:solidFill>
                          <a:effectLst/>
                        </a:rPr>
                        <a:t>✓</a:t>
                      </a:r>
                      <a:endParaRPr lang="en-US" sz="8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94" marR="4319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 dirty="0">
                          <a:solidFill>
                            <a:schemeClr val="bg2"/>
                          </a:solidFill>
                          <a:effectLst/>
                        </a:rPr>
                        <a:t>✓</a:t>
                      </a:r>
                      <a:endParaRPr lang="en-US" sz="800" kern="100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94" marR="43194" marT="0" marB="0"/>
                </a:tc>
                <a:extLst>
                  <a:ext uri="{0D108BD9-81ED-4DB2-BD59-A6C34878D82A}">
                    <a16:rowId xmlns="" xmlns:a16="http://schemas.microsoft.com/office/drawing/2014/main" val="908359291"/>
                  </a:ext>
                </a:extLst>
              </a:tr>
              <a:tr h="3515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100" kern="100" dirty="0">
                          <a:solidFill>
                            <a:schemeClr val="bg2"/>
                          </a:solidFill>
                          <a:effectLst/>
                        </a:rPr>
                        <a:t>سهولة الاعداد والتخصيص للمؤسسات المحلية</a:t>
                      </a:r>
                      <a:endParaRPr lang="en-US" sz="1100" kern="100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94" marR="4319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solidFill>
                            <a:schemeClr val="bg2"/>
                          </a:solidFill>
                          <a:effectLst/>
                        </a:rPr>
                        <a:t>✗</a:t>
                      </a:r>
                      <a:endParaRPr lang="en-US" sz="8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94" marR="4319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solidFill>
                            <a:schemeClr val="bg2"/>
                          </a:solidFill>
                          <a:effectLst/>
                        </a:rPr>
                        <a:t>✗</a:t>
                      </a:r>
                      <a:endParaRPr lang="en-US" sz="8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94" marR="4319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solidFill>
                            <a:schemeClr val="bg2"/>
                          </a:solidFill>
                          <a:effectLst/>
                        </a:rPr>
                        <a:t>✓</a:t>
                      </a:r>
                      <a:endParaRPr lang="en-US" sz="8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94" marR="4319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 dirty="0">
                          <a:solidFill>
                            <a:schemeClr val="bg2"/>
                          </a:solidFill>
                          <a:effectLst/>
                        </a:rPr>
                        <a:t>✗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 dirty="0">
                          <a:solidFill>
                            <a:schemeClr val="bg2"/>
                          </a:solidFill>
                          <a:effectLst/>
                        </a:rPr>
                        <a:t> </a:t>
                      </a:r>
                      <a:endParaRPr lang="en-US" sz="800" kern="100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94" marR="4319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 dirty="0">
                          <a:solidFill>
                            <a:schemeClr val="bg2"/>
                          </a:solidFill>
                          <a:effectLst/>
                        </a:rPr>
                        <a:t>✓</a:t>
                      </a:r>
                      <a:endParaRPr lang="en-US" sz="800" kern="100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94" marR="43194" marT="0" marB="0"/>
                </a:tc>
                <a:extLst>
                  <a:ext uri="{0D108BD9-81ED-4DB2-BD59-A6C34878D82A}">
                    <a16:rowId xmlns="" xmlns:a16="http://schemas.microsoft.com/office/drawing/2014/main" val="2870625178"/>
                  </a:ext>
                </a:extLst>
              </a:tr>
              <a:tr h="47946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100" kern="100" dirty="0">
                          <a:solidFill>
                            <a:schemeClr val="bg2"/>
                          </a:solidFill>
                          <a:effectLst/>
                        </a:rPr>
                        <a:t>توفيرتكاليف الاشتراكات الباهظة</a:t>
                      </a:r>
                      <a:endParaRPr lang="en-US" sz="1100" kern="100" dirty="0">
                        <a:solidFill>
                          <a:schemeClr val="bg2"/>
                        </a:solidFill>
                        <a:effectLst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chemeClr val="bg2"/>
                          </a:solidFill>
                          <a:effectLst/>
                        </a:rPr>
                        <a:t>(SaaS Cost)</a:t>
                      </a:r>
                      <a:endParaRPr lang="en-US" sz="1100" kern="100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94" marR="4319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solidFill>
                            <a:schemeClr val="bg2"/>
                          </a:solidFill>
                          <a:effectLst/>
                        </a:rPr>
                        <a:t>✗</a:t>
                      </a:r>
                      <a:endParaRPr lang="en-US" sz="8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94" marR="4319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solidFill>
                            <a:schemeClr val="bg2"/>
                          </a:solidFill>
                          <a:effectLst/>
                        </a:rPr>
                        <a:t>✗</a:t>
                      </a:r>
                      <a:endParaRPr lang="en-US" sz="8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94" marR="4319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solidFill>
                            <a:schemeClr val="bg2"/>
                          </a:solidFill>
                          <a:effectLst/>
                        </a:rPr>
                        <a:t>✓</a:t>
                      </a:r>
                      <a:endParaRPr lang="en-US" sz="8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94" marR="4319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 dirty="0">
                          <a:solidFill>
                            <a:schemeClr val="bg2"/>
                          </a:solidFill>
                          <a:effectLst/>
                        </a:rPr>
                        <a:t>✗</a:t>
                      </a:r>
                      <a:endParaRPr lang="en-US" sz="800" kern="100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94" marR="4319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 dirty="0">
                          <a:solidFill>
                            <a:schemeClr val="bg2"/>
                          </a:solidFill>
                          <a:effectLst/>
                        </a:rPr>
                        <a:t>✓</a:t>
                      </a:r>
                      <a:endParaRPr lang="en-US" sz="800" kern="100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94" marR="43194" marT="0" marB="0"/>
                </a:tc>
                <a:extLst>
                  <a:ext uri="{0D108BD9-81ED-4DB2-BD59-A6C34878D82A}">
                    <a16:rowId xmlns="" xmlns:a16="http://schemas.microsoft.com/office/drawing/2014/main" val="4292547811"/>
                  </a:ext>
                </a:extLst>
              </a:tr>
              <a:tr h="19366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100" kern="100" dirty="0">
                          <a:solidFill>
                            <a:schemeClr val="bg2"/>
                          </a:solidFill>
                          <a:effectLst/>
                        </a:rPr>
                        <a:t>الاستضافة المستقلة والامنة لكل جهة </a:t>
                      </a:r>
                      <a:endParaRPr lang="en-US" sz="1100" kern="100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94" marR="4319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solidFill>
                            <a:schemeClr val="bg2"/>
                          </a:solidFill>
                          <a:effectLst/>
                        </a:rPr>
                        <a:t>✓</a:t>
                      </a:r>
                      <a:endParaRPr lang="en-US" sz="8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94" marR="4319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solidFill>
                            <a:schemeClr val="bg2"/>
                          </a:solidFill>
                          <a:effectLst/>
                        </a:rPr>
                        <a:t>✗</a:t>
                      </a:r>
                      <a:endParaRPr lang="en-US" sz="8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94" marR="4319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>
                          <a:solidFill>
                            <a:schemeClr val="bg2"/>
                          </a:solidFill>
                          <a:effectLst/>
                        </a:rPr>
                        <a:t>✓</a:t>
                      </a:r>
                      <a:endParaRPr lang="en-US" sz="800" kern="10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94" marR="4319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 dirty="0">
                          <a:solidFill>
                            <a:schemeClr val="bg2"/>
                          </a:solidFill>
                          <a:effectLst/>
                        </a:rPr>
                        <a:t>✓</a:t>
                      </a:r>
                      <a:endParaRPr lang="en-US" sz="800" kern="100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94" marR="4319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 dirty="0">
                          <a:solidFill>
                            <a:schemeClr val="bg2"/>
                          </a:solidFill>
                          <a:effectLst/>
                        </a:rPr>
                        <a:t>✓</a:t>
                      </a:r>
                      <a:endParaRPr lang="en-US" sz="800" kern="100" dirty="0">
                        <a:solidFill>
                          <a:schemeClr val="bg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94" marR="43194" marT="0" marB="0"/>
                </a:tc>
                <a:extLst>
                  <a:ext uri="{0D108BD9-81ED-4DB2-BD59-A6C34878D82A}">
                    <a16:rowId xmlns="" xmlns:a16="http://schemas.microsoft.com/office/drawing/2014/main" val="411417125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54"/>
          <p:cNvSpPr/>
          <p:nvPr/>
        </p:nvSpPr>
        <p:spPr>
          <a:xfrm>
            <a:off x="2984562" y="1014324"/>
            <a:ext cx="3161400" cy="3161400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mprint MT Shadow" panose="04020605060303030202" pitchFamily="82" charset="0"/>
            </a:endParaRPr>
          </a:p>
        </p:txBody>
      </p:sp>
      <p:sp>
        <p:nvSpPr>
          <p:cNvPr id="524" name="Google Shape;524;p54"/>
          <p:cNvSpPr txBox="1"/>
          <p:nvPr/>
        </p:nvSpPr>
        <p:spPr>
          <a:xfrm>
            <a:off x="189125" y="731199"/>
            <a:ext cx="3443289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Bilingual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Support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 &amp;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Operational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Fit</a:t>
            </a:r>
            <a:endParaRPr sz="1600" b="1" dirty="0">
              <a:solidFill>
                <a:schemeClr val="bg1"/>
              </a:solidFill>
              <a:latin typeface="Imprint MT Shadow" panose="04020605060303030202" pitchFamily="82" charset="0"/>
              <a:ea typeface="Baloo Paaji 2"/>
              <a:cs typeface="Baloo Paaji 2"/>
              <a:sym typeface="Baloo Paaji 2"/>
            </a:endParaRPr>
          </a:p>
        </p:txBody>
      </p:sp>
      <p:sp>
        <p:nvSpPr>
          <p:cNvPr id="525" name="Google Shape;525;p54"/>
          <p:cNvSpPr txBox="1"/>
          <p:nvPr/>
        </p:nvSpPr>
        <p:spPr>
          <a:xfrm>
            <a:off x="131333" y="3323008"/>
            <a:ext cx="3144514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Intelligent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Routing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 &amp;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Lifecycle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Tracking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:</a:t>
            </a:r>
            <a:endParaRPr sz="1600" b="1" dirty="0">
              <a:solidFill>
                <a:schemeClr val="bg1"/>
              </a:solidFill>
              <a:latin typeface="Imprint MT Shadow" panose="04020605060303030202" pitchFamily="82" charset="0"/>
              <a:ea typeface="Baloo Paaji 2"/>
              <a:cs typeface="Baloo Paaji 2"/>
              <a:sym typeface="Baloo Paaji 2"/>
            </a:endParaRPr>
          </a:p>
        </p:txBody>
      </p:sp>
      <p:sp>
        <p:nvSpPr>
          <p:cNvPr id="526" name="Google Shape;526;p54"/>
          <p:cNvSpPr txBox="1"/>
          <p:nvPr/>
        </p:nvSpPr>
        <p:spPr>
          <a:xfrm>
            <a:off x="422903" y="3694159"/>
            <a:ext cx="2729623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Route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complaints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to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designated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agents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and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track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their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entire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lifecycle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from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intake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to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final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resolution</a:t>
            </a:r>
            <a:endParaRPr sz="1200" dirty="0">
              <a:solidFill>
                <a:schemeClr val="bg1"/>
              </a:solidFill>
              <a:latin typeface="Imprint MT Shadow" panose="04020605060303030202" pitchFamily="82" charset="0"/>
              <a:ea typeface="Baloo Paaji 2"/>
              <a:cs typeface="Baloo Paaji 2"/>
              <a:sym typeface="Baloo Paaji 2"/>
            </a:endParaRPr>
          </a:p>
        </p:txBody>
      </p:sp>
      <p:sp>
        <p:nvSpPr>
          <p:cNvPr id="527" name="Google Shape;527;p54"/>
          <p:cNvSpPr txBox="1"/>
          <p:nvPr/>
        </p:nvSpPr>
        <p:spPr>
          <a:xfrm>
            <a:off x="310951" y="1016813"/>
            <a:ext cx="300312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Deliver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a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user-friendly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,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bilingual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interface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(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Arabic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&amp;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English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)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tailored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specifically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to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meet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operational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requirements</a:t>
            </a:r>
            <a:endParaRPr sz="1200" dirty="0">
              <a:solidFill>
                <a:schemeClr val="bg1"/>
              </a:solidFill>
              <a:latin typeface="Imprint MT Shadow" panose="04020605060303030202" pitchFamily="82" charset="0"/>
              <a:ea typeface="Baloo Paaji 2"/>
              <a:cs typeface="Baloo Paaji 2"/>
              <a:sym typeface="Baloo Paaji 2"/>
            </a:endParaRPr>
          </a:p>
        </p:txBody>
      </p:sp>
      <p:sp>
        <p:nvSpPr>
          <p:cNvPr id="528" name="Google Shape;528;p54"/>
          <p:cNvSpPr txBox="1"/>
          <p:nvPr/>
        </p:nvSpPr>
        <p:spPr>
          <a:xfrm>
            <a:off x="5475982" y="636557"/>
            <a:ext cx="3393876" cy="466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r"/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Arabic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Multi-Tenant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SaaS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Platform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:</a:t>
            </a:r>
            <a:endParaRPr sz="1600" b="1" dirty="0">
              <a:solidFill>
                <a:schemeClr val="bg1"/>
              </a:solidFill>
              <a:latin typeface="Imprint MT Shadow" panose="04020605060303030202" pitchFamily="82" charset="0"/>
              <a:ea typeface="Baloo Paaji 2"/>
              <a:cs typeface="Baloo Paaji 2"/>
              <a:sym typeface="Baloo Paaji 2"/>
            </a:endParaRPr>
          </a:p>
        </p:txBody>
      </p:sp>
      <p:sp>
        <p:nvSpPr>
          <p:cNvPr id="529" name="Google Shape;529;p54"/>
          <p:cNvSpPr txBox="1"/>
          <p:nvPr/>
        </p:nvSpPr>
        <p:spPr>
          <a:xfrm>
            <a:off x="5768281" y="1041413"/>
            <a:ext cx="3161400" cy="1063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Build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a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dedicated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Arabic-supported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Multi-Tenant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SaaS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platform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that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allows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organizations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to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manage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complaints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without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building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custom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systems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or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relying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on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tools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that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lack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Arabic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support</a:t>
            </a:r>
            <a:endParaRPr sz="1200" dirty="0">
              <a:solidFill>
                <a:schemeClr val="bg1"/>
              </a:solidFill>
              <a:latin typeface="Imprint MT Shadow" panose="04020605060303030202" pitchFamily="82" charset="0"/>
              <a:ea typeface="Baloo Paaji 2"/>
              <a:cs typeface="Baloo Paaji 2"/>
              <a:sym typeface="Baloo Paaji 2"/>
            </a:endParaRPr>
          </a:p>
        </p:txBody>
      </p:sp>
      <p:sp>
        <p:nvSpPr>
          <p:cNvPr id="530" name="Google Shape;530;p54"/>
          <p:cNvSpPr txBox="1"/>
          <p:nvPr/>
        </p:nvSpPr>
        <p:spPr>
          <a:xfrm>
            <a:off x="6083242" y="3559829"/>
            <a:ext cx="2446464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AI-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Powered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Automated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Classification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:</a:t>
            </a:r>
            <a:endParaRPr sz="1600" b="1" dirty="0">
              <a:solidFill>
                <a:schemeClr val="bg1"/>
              </a:solidFill>
              <a:latin typeface="Imprint MT Shadow" panose="04020605060303030202" pitchFamily="82" charset="0"/>
              <a:ea typeface="Baloo Paaji 2"/>
              <a:cs typeface="Baloo Paaji 2"/>
              <a:sym typeface="Baloo Paaji 2"/>
            </a:endParaRPr>
          </a:p>
        </p:txBody>
      </p:sp>
      <p:sp>
        <p:nvSpPr>
          <p:cNvPr id="531" name="Google Shape;531;p54"/>
          <p:cNvSpPr txBox="1"/>
          <p:nvPr/>
        </p:nvSpPr>
        <p:spPr>
          <a:xfrm>
            <a:off x="5597352" y="3888167"/>
            <a:ext cx="3656884" cy="496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Leverage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AI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to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automatically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analyze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complaint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text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,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determine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the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target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department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,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categorize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issues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,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and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assign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priority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levels</a:t>
            </a:r>
            <a:endParaRPr sz="1200" dirty="0">
              <a:solidFill>
                <a:schemeClr val="bg1"/>
              </a:solidFill>
              <a:latin typeface="Imprint MT Shadow" panose="04020605060303030202" pitchFamily="82" charset="0"/>
              <a:ea typeface="Baloo Paaji 2"/>
              <a:cs typeface="Baloo Paaji 2"/>
              <a:sym typeface="Baloo Paaji 2"/>
            </a:endParaRPr>
          </a:p>
        </p:txBody>
      </p:sp>
      <p:sp>
        <p:nvSpPr>
          <p:cNvPr id="532" name="Google Shape;532;p54"/>
          <p:cNvSpPr txBox="1"/>
          <p:nvPr/>
        </p:nvSpPr>
        <p:spPr>
          <a:xfrm>
            <a:off x="399179" y="1910924"/>
            <a:ext cx="2777069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1" algn="ctr"/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Transparency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 &amp;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Auditability</a:t>
            </a:r>
            <a:endParaRPr sz="1600" b="1" dirty="0">
              <a:solidFill>
                <a:schemeClr val="bg1"/>
              </a:solidFill>
              <a:latin typeface="Imprint MT Shadow" panose="04020605060303030202" pitchFamily="82" charset="0"/>
              <a:ea typeface="Baloo Paaji 2"/>
              <a:cs typeface="Baloo Paaji 2"/>
              <a:sym typeface="Baloo Paaji 2"/>
            </a:endParaRPr>
          </a:p>
        </p:txBody>
      </p:sp>
      <p:sp>
        <p:nvSpPr>
          <p:cNvPr id="533" name="Google Shape;533;p54"/>
          <p:cNvSpPr txBox="1"/>
          <p:nvPr/>
        </p:nvSpPr>
        <p:spPr>
          <a:xfrm>
            <a:off x="93669" y="2222181"/>
            <a:ext cx="277706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Maintain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comprehensive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audit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logs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for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all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actions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and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send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automated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email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notifications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to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ensure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complete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operational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transparency</a:t>
            </a:r>
            <a:endParaRPr sz="1200" dirty="0">
              <a:solidFill>
                <a:schemeClr val="bg1"/>
              </a:solidFill>
              <a:latin typeface="Imprint MT Shadow" panose="04020605060303030202" pitchFamily="82" charset="0"/>
              <a:ea typeface="Baloo Paaji 2"/>
              <a:cs typeface="Baloo Paaji 2"/>
              <a:sym typeface="Baloo Paaji 2"/>
            </a:endParaRPr>
          </a:p>
        </p:txBody>
      </p:sp>
      <p:sp>
        <p:nvSpPr>
          <p:cNvPr id="534" name="Google Shape;534;p54"/>
          <p:cNvSpPr txBox="1"/>
          <p:nvPr/>
        </p:nvSpPr>
        <p:spPr>
          <a:xfrm>
            <a:off x="6359353" y="2294816"/>
            <a:ext cx="3142191" cy="35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Isolated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Environment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 &amp;</a:t>
            </a:r>
          </a:p>
          <a:p>
            <a:pPr lvl="0"/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6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Security</a:t>
            </a:r>
            <a:r>
              <a:rPr lang="ar-SA" sz="1600" dirty="0">
                <a:solidFill>
                  <a:schemeClr val="bg1"/>
                </a:solidFill>
                <a:latin typeface="Imprint MT Shadow" panose="04020605060303030202" pitchFamily="82" charset="0"/>
              </a:rPr>
              <a:t>:</a:t>
            </a:r>
            <a:endParaRPr sz="1600" b="1" dirty="0">
              <a:solidFill>
                <a:schemeClr val="bg1"/>
              </a:solidFill>
              <a:latin typeface="Imprint MT Shadow" panose="04020605060303030202" pitchFamily="82" charset="0"/>
              <a:ea typeface="Baloo Paaji 2"/>
              <a:cs typeface="Baloo Paaji 2"/>
              <a:sym typeface="Baloo Paaji 2"/>
            </a:endParaRPr>
          </a:p>
        </p:txBody>
      </p:sp>
      <p:sp>
        <p:nvSpPr>
          <p:cNvPr id="535" name="Google Shape;535;p54"/>
          <p:cNvSpPr txBox="1"/>
          <p:nvPr/>
        </p:nvSpPr>
        <p:spPr>
          <a:xfrm>
            <a:off x="6159437" y="2705154"/>
            <a:ext cx="289134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r"/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Provide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each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organization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(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tenant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)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with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a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fully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isolated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environment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to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handle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and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track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internal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complaints</a:t>
            </a:r>
            <a:r>
              <a:rPr lang="ar-SA" sz="12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12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securely</a:t>
            </a:r>
            <a:endParaRPr sz="1200" dirty="0">
              <a:solidFill>
                <a:schemeClr val="bg1"/>
              </a:solidFill>
              <a:latin typeface="Imprint MT Shadow" panose="04020605060303030202" pitchFamily="82" charset="0"/>
              <a:ea typeface="Baloo Paaji 2"/>
              <a:cs typeface="Baloo Paaji 2"/>
              <a:sym typeface="Baloo Paaji 2"/>
            </a:endParaRPr>
          </a:p>
        </p:txBody>
      </p:sp>
      <p:sp>
        <p:nvSpPr>
          <p:cNvPr id="536" name="Google Shape;536;p54"/>
          <p:cNvSpPr/>
          <p:nvPr/>
        </p:nvSpPr>
        <p:spPr>
          <a:xfrm>
            <a:off x="3373899" y="944202"/>
            <a:ext cx="588300" cy="5727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latin typeface="Imprint MT Shadow" panose="04020605060303030202" pitchFamily="82" charset="0"/>
              <a:ea typeface="Baloo Paaji 2"/>
              <a:cs typeface="Baloo Paaji 2"/>
              <a:sym typeface="Baloo Paaji 2"/>
            </a:endParaRPr>
          </a:p>
        </p:txBody>
      </p:sp>
      <p:sp>
        <p:nvSpPr>
          <p:cNvPr id="537" name="Google Shape;537;p54"/>
          <p:cNvSpPr/>
          <p:nvPr/>
        </p:nvSpPr>
        <p:spPr>
          <a:xfrm flipH="1">
            <a:off x="5285628" y="1026464"/>
            <a:ext cx="588300" cy="5727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latin typeface="Imprint MT Shadow" panose="04020605060303030202" pitchFamily="82" charset="0"/>
              <a:ea typeface="Baloo Paaji 2"/>
              <a:cs typeface="Baloo Paaji 2"/>
              <a:sym typeface="Baloo Paaji 2"/>
            </a:endParaRPr>
          </a:p>
        </p:txBody>
      </p:sp>
      <p:sp>
        <p:nvSpPr>
          <p:cNvPr id="538" name="Google Shape;538;p54"/>
          <p:cNvSpPr/>
          <p:nvPr/>
        </p:nvSpPr>
        <p:spPr>
          <a:xfrm>
            <a:off x="2756914" y="2208030"/>
            <a:ext cx="588300" cy="5727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b="1" dirty="0">
              <a:latin typeface="Imprint MT Shadow" panose="04020605060303030202" pitchFamily="82" charset="0"/>
              <a:ea typeface="Baloo Paaji 2"/>
              <a:cs typeface="Baloo Paaji 2"/>
              <a:sym typeface="Baloo Paaji 2"/>
            </a:endParaRPr>
          </a:p>
        </p:txBody>
      </p:sp>
      <p:sp>
        <p:nvSpPr>
          <p:cNvPr id="539" name="Google Shape;539;p54"/>
          <p:cNvSpPr/>
          <p:nvPr/>
        </p:nvSpPr>
        <p:spPr>
          <a:xfrm flipH="1">
            <a:off x="5789092" y="2153901"/>
            <a:ext cx="588300" cy="5727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latin typeface="Imprint MT Shadow" panose="04020605060303030202" pitchFamily="82" charset="0"/>
              <a:ea typeface="Baloo Paaji 2"/>
              <a:cs typeface="Baloo Paaji 2"/>
              <a:sym typeface="Baloo Paaji 2"/>
            </a:endParaRPr>
          </a:p>
        </p:txBody>
      </p:sp>
      <p:sp>
        <p:nvSpPr>
          <p:cNvPr id="540" name="Google Shape;540;p54"/>
          <p:cNvSpPr/>
          <p:nvPr/>
        </p:nvSpPr>
        <p:spPr>
          <a:xfrm>
            <a:off x="3094109" y="3416775"/>
            <a:ext cx="588300" cy="5727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latin typeface="Imprint MT Shadow" panose="04020605060303030202" pitchFamily="82" charset="0"/>
              <a:ea typeface="Baloo Paaji 2"/>
              <a:cs typeface="Baloo Paaji 2"/>
              <a:sym typeface="Baloo Paaji 2"/>
            </a:endParaRPr>
          </a:p>
        </p:txBody>
      </p:sp>
      <p:sp>
        <p:nvSpPr>
          <p:cNvPr id="541" name="Google Shape;541;p54"/>
          <p:cNvSpPr/>
          <p:nvPr/>
        </p:nvSpPr>
        <p:spPr>
          <a:xfrm flipH="1">
            <a:off x="5494942" y="3411329"/>
            <a:ext cx="588300" cy="5727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latin typeface="Imprint MT Shadow" panose="04020605060303030202" pitchFamily="82" charset="0"/>
              <a:ea typeface="Baloo Paaji 2"/>
              <a:cs typeface="Baloo Paaji 2"/>
              <a:sym typeface="Baloo Paaji 2"/>
            </a:endParaRPr>
          </a:p>
        </p:txBody>
      </p:sp>
      <p:sp>
        <p:nvSpPr>
          <p:cNvPr id="542" name="Google Shape;542;p54"/>
          <p:cNvSpPr txBox="1"/>
          <p:nvPr/>
        </p:nvSpPr>
        <p:spPr>
          <a:xfrm>
            <a:off x="3282209" y="1047548"/>
            <a:ext cx="8004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 dirty="0">
                <a:solidFill>
                  <a:schemeClr val="dk1"/>
                </a:solidFill>
                <a:latin typeface="Imprint MT Shadow" panose="04020605060303030202" pitchFamily="82" charset="0"/>
                <a:ea typeface="Baloo Paaji 2"/>
                <a:cs typeface="Baloo Paaji 2"/>
                <a:sym typeface="Baloo Paaji 2"/>
              </a:rPr>
              <a:t>6</a:t>
            </a:r>
            <a:endParaRPr sz="2300" b="1" dirty="0">
              <a:solidFill>
                <a:schemeClr val="dk1"/>
              </a:solidFill>
              <a:latin typeface="Imprint MT Shadow" panose="04020605060303030202" pitchFamily="82" charset="0"/>
              <a:ea typeface="Baloo Paaji 2"/>
              <a:cs typeface="Baloo Paaji 2"/>
              <a:sym typeface="Baloo Paaji 2"/>
            </a:endParaRPr>
          </a:p>
        </p:txBody>
      </p:sp>
      <p:sp>
        <p:nvSpPr>
          <p:cNvPr id="543" name="Google Shape;543;p54"/>
          <p:cNvSpPr txBox="1"/>
          <p:nvPr/>
        </p:nvSpPr>
        <p:spPr>
          <a:xfrm>
            <a:off x="2984419" y="3535404"/>
            <a:ext cx="8004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 dirty="0">
                <a:solidFill>
                  <a:schemeClr val="dk1"/>
                </a:solidFill>
                <a:latin typeface="Imprint MT Shadow" panose="04020605060303030202" pitchFamily="82" charset="0"/>
                <a:ea typeface="Baloo Paaji 2"/>
                <a:cs typeface="Baloo Paaji 2"/>
                <a:sym typeface="Baloo Paaji 2"/>
              </a:rPr>
              <a:t>4</a:t>
            </a:r>
            <a:endParaRPr sz="2300" b="1" dirty="0">
              <a:solidFill>
                <a:schemeClr val="dk1"/>
              </a:solidFill>
              <a:latin typeface="Imprint MT Shadow" panose="04020605060303030202" pitchFamily="82" charset="0"/>
              <a:ea typeface="Baloo Paaji 2"/>
              <a:cs typeface="Baloo Paaji 2"/>
              <a:sym typeface="Baloo Paaji 2"/>
            </a:endParaRPr>
          </a:p>
        </p:txBody>
      </p:sp>
      <p:sp>
        <p:nvSpPr>
          <p:cNvPr id="544" name="Google Shape;544;p54"/>
          <p:cNvSpPr txBox="1"/>
          <p:nvPr/>
        </p:nvSpPr>
        <p:spPr>
          <a:xfrm>
            <a:off x="5179578" y="1047548"/>
            <a:ext cx="800400" cy="497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dirty="0">
                <a:solidFill>
                  <a:schemeClr val="dk1"/>
                </a:solidFill>
                <a:latin typeface="Imprint MT Shadow" panose="04020605060303030202" pitchFamily="82" charset="0"/>
                <a:ea typeface="Baloo Paaji 2"/>
                <a:cs typeface="Baloo Paaji 2"/>
                <a:sym typeface="Baloo Paaji 2"/>
              </a:rPr>
              <a:t>1</a:t>
            </a:r>
            <a:endParaRPr sz="2300" b="1" dirty="0">
              <a:solidFill>
                <a:schemeClr val="dk1"/>
              </a:solidFill>
              <a:latin typeface="Imprint MT Shadow" panose="04020605060303030202" pitchFamily="82" charset="0"/>
              <a:ea typeface="Baloo Paaji 2"/>
              <a:cs typeface="Baloo Paaji 2"/>
              <a:sym typeface="Baloo Paaji 2"/>
            </a:endParaRPr>
          </a:p>
        </p:txBody>
      </p:sp>
      <p:sp>
        <p:nvSpPr>
          <p:cNvPr id="545" name="Google Shape;545;p54"/>
          <p:cNvSpPr txBox="1"/>
          <p:nvPr/>
        </p:nvSpPr>
        <p:spPr>
          <a:xfrm>
            <a:off x="5388892" y="3451056"/>
            <a:ext cx="800400" cy="486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 dirty="0">
                <a:solidFill>
                  <a:schemeClr val="dk1"/>
                </a:solidFill>
                <a:latin typeface="Imprint MT Shadow" panose="04020605060303030202" pitchFamily="82" charset="0"/>
                <a:ea typeface="Baloo Paaji 2"/>
                <a:cs typeface="Baloo Paaji 2"/>
                <a:sym typeface="Baloo Paaji 2"/>
              </a:rPr>
              <a:t>3</a:t>
            </a:r>
            <a:endParaRPr sz="2300" b="1" dirty="0">
              <a:solidFill>
                <a:schemeClr val="dk1"/>
              </a:solidFill>
              <a:latin typeface="Imprint MT Shadow" panose="04020605060303030202" pitchFamily="82" charset="0"/>
              <a:ea typeface="Baloo Paaji 2"/>
              <a:cs typeface="Baloo Paaji 2"/>
              <a:sym typeface="Baloo Paaji 2"/>
            </a:endParaRPr>
          </a:p>
        </p:txBody>
      </p:sp>
      <p:sp>
        <p:nvSpPr>
          <p:cNvPr id="546" name="Google Shape;546;p54"/>
          <p:cNvSpPr txBox="1"/>
          <p:nvPr/>
        </p:nvSpPr>
        <p:spPr>
          <a:xfrm>
            <a:off x="5724213" y="2180277"/>
            <a:ext cx="800400" cy="462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 dirty="0">
                <a:solidFill>
                  <a:schemeClr val="dk1"/>
                </a:solidFill>
                <a:latin typeface="Imprint MT Shadow" panose="04020605060303030202" pitchFamily="82" charset="0"/>
                <a:ea typeface="Baloo Paaji 2"/>
                <a:cs typeface="Baloo Paaji 2"/>
                <a:sym typeface="Baloo Paaji 2"/>
              </a:rPr>
              <a:t>2</a:t>
            </a:r>
            <a:endParaRPr sz="2300" b="1" dirty="0">
              <a:solidFill>
                <a:schemeClr val="dk1"/>
              </a:solidFill>
              <a:latin typeface="Imprint MT Shadow" panose="04020605060303030202" pitchFamily="82" charset="0"/>
              <a:ea typeface="Baloo Paaji 2"/>
              <a:cs typeface="Baloo Paaji 2"/>
              <a:sym typeface="Baloo Paaji 2"/>
            </a:endParaRPr>
          </a:p>
        </p:txBody>
      </p:sp>
      <p:sp>
        <p:nvSpPr>
          <p:cNvPr id="547" name="Google Shape;547;p54"/>
          <p:cNvSpPr txBox="1"/>
          <p:nvPr/>
        </p:nvSpPr>
        <p:spPr>
          <a:xfrm>
            <a:off x="2668296" y="2255251"/>
            <a:ext cx="800400" cy="447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 dirty="0">
                <a:solidFill>
                  <a:schemeClr val="dk1"/>
                </a:solidFill>
                <a:latin typeface="Imprint MT Shadow" panose="04020605060303030202" pitchFamily="82" charset="0"/>
                <a:ea typeface="Baloo Paaji 2"/>
                <a:cs typeface="Baloo Paaji 2"/>
                <a:sym typeface="Baloo Paaji 2"/>
              </a:rPr>
              <a:t>5</a:t>
            </a:r>
            <a:endParaRPr sz="2300" b="1" dirty="0">
              <a:solidFill>
                <a:schemeClr val="dk1"/>
              </a:solidFill>
              <a:latin typeface="Imprint MT Shadow" panose="04020605060303030202" pitchFamily="82" charset="0"/>
              <a:ea typeface="Baloo Paaji 2"/>
              <a:cs typeface="Baloo Paaji 2"/>
              <a:sym typeface="Baloo Paaji 2"/>
            </a:endParaRPr>
          </a:p>
        </p:txBody>
      </p:sp>
      <p:sp>
        <p:nvSpPr>
          <p:cNvPr id="548" name="Google Shape;548;p54"/>
          <p:cNvSpPr txBox="1"/>
          <p:nvPr/>
        </p:nvSpPr>
        <p:spPr>
          <a:xfrm>
            <a:off x="3585999" y="2151772"/>
            <a:ext cx="1972001" cy="649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ar-SA" sz="2000" b="1" dirty="0">
                <a:solidFill>
                  <a:schemeClr val="bg1"/>
                </a:solidFill>
                <a:latin typeface="Imprint MT Shadow" panose="04020605060303030202" pitchFamily="82" charset="0"/>
              </a:rPr>
              <a:t>PROJECT </a:t>
            </a:r>
            <a:endParaRPr lang="ar-SA" sz="4400" dirty="0">
              <a:solidFill>
                <a:schemeClr val="bg1"/>
              </a:solidFill>
              <a:latin typeface="Imprint MT Shadow" panose="04020605060303030202" pitchFamily="82" charset="0"/>
            </a:endParaRPr>
          </a:p>
          <a:p>
            <a:pPr algn="ctr"/>
            <a:r>
              <a:rPr lang="ar-SA" sz="2000" b="1" dirty="0">
                <a:solidFill>
                  <a:schemeClr val="bg1"/>
                </a:solidFill>
                <a:latin typeface="Imprint MT Shadow" panose="04020605060303030202" pitchFamily="82" charset="0"/>
              </a:rPr>
              <a:t>OBJECTIVES</a:t>
            </a:r>
            <a:endParaRPr sz="4000" b="1" dirty="0">
              <a:solidFill>
                <a:schemeClr val="bg1"/>
              </a:solidFill>
              <a:latin typeface="Imprint MT Shadow" panose="04020605060303030202" pitchFamily="82" charset="0"/>
              <a:ea typeface="Baloo Paaji 2"/>
              <a:cs typeface="Baloo Paaji 2"/>
              <a:sym typeface="Baloo Paaji 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99">
          <a:extLst>
            <a:ext uri="{FF2B5EF4-FFF2-40B4-BE49-F238E27FC236}">
              <a16:creationId xmlns="" xmlns:a16="http://schemas.microsoft.com/office/drawing/2014/main" id="{87D4C2D1-7926-216C-4847-346B186BA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مربع نص 8">
            <a:extLst>
              <a:ext uri="{FF2B5EF4-FFF2-40B4-BE49-F238E27FC236}">
                <a16:creationId xmlns="" xmlns:a16="http://schemas.microsoft.com/office/drawing/2014/main" id="{8BB8F7A4-C7E0-763C-1FE2-14B8ACB17A2D}"/>
              </a:ext>
            </a:extLst>
          </p:cNvPr>
          <p:cNvSpPr txBox="1"/>
          <p:nvPr/>
        </p:nvSpPr>
        <p:spPr>
          <a:xfrm>
            <a:off x="5122068" y="152244"/>
            <a:ext cx="4021932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ar-SA" sz="2400" b="1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High</a:t>
            </a:r>
            <a:r>
              <a:rPr lang="ar-SA" sz="2400" b="1" dirty="0">
                <a:solidFill>
                  <a:schemeClr val="bg1"/>
                </a:solidFill>
                <a:latin typeface="Imprint MT Shadow" panose="04020605060303030202" pitchFamily="82" charset="0"/>
              </a:rPr>
              <a:t> – </a:t>
            </a:r>
            <a:r>
              <a:rPr lang="ar-SA" sz="2400" b="1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Level</a:t>
            </a:r>
            <a:r>
              <a:rPr lang="ar-SA" sz="2400" b="1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</a:p>
          <a:p>
            <a:pPr algn="ctr"/>
            <a:r>
              <a:rPr lang="ar-SA" sz="24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Use</a:t>
            </a:r>
            <a:r>
              <a:rPr lang="ar-SA" sz="24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24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Case</a:t>
            </a:r>
            <a:r>
              <a:rPr lang="ar-SA" sz="24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24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Diagram</a:t>
            </a:r>
            <a:endParaRPr lang="ar-SA" sz="2400" dirty="0">
              <a:solidFill>
                <a:schemeClr val="bg1"/>
              </a:solidFill>
              <a:latin typeface="Imprint MT Shadow" panose="04020605060303030202" pitchFamily="82" charset="0"/>
            </a:endParaRPr>
          </a:p>
        </p:txBody>
      </p:sp>
      <p:pic>
        <p:nvPicPr>
          <p:cNvPr id="5" name="صورة 4">
            <a:extLst>
              <a:ext uri="{FF2B5EF4-FFF2-40B4-BE49-F238E27FC236}">
                <a16:creationId xmlns="" xmlns:a16="http://schemas.microsoft.com/office/drawing/2014/main" id="{101ACAD9-09EF-3651-D18B-3A10493315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3560"/>
            <a:ext cx="4872751" cy="5217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872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مربع نص 8">
            <a:extLst>
              <a:ext uri="{FF2B5EF4-FFF2-40B4-BE49-F238E27FC236}">
                <a16:creationId xmlns="" xmlns:a16="http://schemas.microsoft.com/office/drawing/2014/main" id="{9C15B119-C911-2CB0-97E9-91E60FA102E6}"/>
              </a:ext>
            </a:extLst>
          </p:cNvPr>
          <p:cNvSpPr txBox="1"/>
          <p:nvPr/>
        </p:nvSpPr>
        <p:spPr>
          <a:xfrm>
            <a:off x="-521030" y="408827"/>
            <a:ext cx="4021932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ar-SA" sz="28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Low</a:t>
            </a:r>
            <a:r>
              <a:rPr lang="ar-SA" sz="2800" dirty="0">
                <a:solidFill>
                  <a:schemeClr val="bg1"/>
                </a:solidFill>
                <a:latin typeface="Imprint MT Shadow" panose="04020605060303030202" pitchFamily="82" charset="0"/>
              </a:rPr>
              <a:t> - </a:t>
            </a:r>
            <a:r>
              <a:rPr lang="ar-SA" sz="28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Level</a:t>
            </a:r>
            <a:r>
              <a:rPr lang="ar-SA" sz="28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</a:p>
          <a:p>
            <a:pPr algn="ctr"/>
            <a:r>
              <a:rPr lang="ar-SA" sz="28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Use</a:t>
            </a:r>
            <a:r>
              <a:rPr lang="ar-SA" sz="28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28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Case</a:t>
            </a:r>
            <a:r>
              <a:rPr lang="ar-SA" sz="2800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ar-SA" sz="2800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Diagram</a:t>
            </a:r>
            <a:endParaRPr lang="ar-SA" sz="2800" dirty="0">
              <a:solidFill>
                <a:schemeClr val="bg1"/>
              </a:solidFill>
              <a:latin typeface="Imprint MT Shadow" panose="04020605060303030202" pitchFamily="82" charset="0"/>
            </a:endParaRPr>
          </a:p>
        </p:txBody>
      </p:sp>
      <p:pic>
        <p:nvPicPr>
          <p:cNvPr id="5" name="صورة 4">
            <a:extLst>
              <a:ext uri="{FF2B5EF4-FFF2-40B4-BE49-F238E27FC236}">
                <a16:creationId xmlns="" xmlns:a16="http://schemas.microsoft.com/office/drawing/2014/main" id="{2A395082-E66F-007B-19EE-94BC0FA222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59947" y="0"/>
            <a:ext cx="6184053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مربع نص 4">
            <a:extLst>
              <a:ext uri="{FF2B5EF4-FFF2-40B4-BE49-F238E27FC236}">
                <a16:creationId xmlns="" xmlns:a16="http://schemas.microsoft.com/office/drawing/2014/main" id="{90C39395-6CFF-75A8-4C90-78F4FA415C7B}"/>
              </a:ext>
            </a:extLst>
          </p:cNvPr>
          <p:cNvSpPr txBox="1"/>
          <p:nvPr/>
        </p:nvSpPr>
        <p:spPr>
          <a:xfrm>
            <a:off x="304800" y="375511"/>
            <a:ext cx="7855527" cy="289310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Imprint MT Shadow" panose="04020605060303030202" pitchFamily="82" charset="0"/>
              </a:rPr>
              <a:t>Methodology &amp; Architecture</a:t>
            </a:r>
          </a:p>
          <a:p>
            <a:endParaRPr lang="en-US" b="1" dirty="0">
              <a:solidFill>
                <a:schemeClr val="bg1"/>
              </a:solidFill>
              <a:latin typeface="Imprint MT Shadow" panose="04020605060303030202" pitchFamily="82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Imprint MT Shadow" panose="04020605060303030202" pitchFamily="82" charset="0"/>
              </a:rPr>
              <a:t>1. Development Methodology:</a:t>
            </a:r>
          </a:p>
          <a:p>
            <a:endParaRPr lang="en-US" b="1" dirty="0">
              <a:solidFill>
                <a:schemeClr val="bg1"/>
              </a:solidFill>
              <a:latin typeface="Imprint MT Shadow" panose="04020605060303030202" pitchFamily="82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Imprint MT Shadow" panose="04020605060303030202" pitchFamily="82" charset="0"/>
              </a:rPr>
              <a:t>· Agile / Scrum Methodology: Utilizing short work cycles (Sprints)—lasting one to two weeks—to accelerate development and updates.</a:t>
            </a:r>
          </a:p>
          <a:p>
            <a:r>
              <a:rPr lang="en-US" b="1" dirty="0">
                <a:solidFill>
                  <a:schemeClr val="bg1"/>
                </a:solidFill>
                <a:latin typeface="Imprint MT Shadow" panose="04020605060303030202" pitchFamily="82" charset="0"/>
              </a:rPr>
              <a:t>· Why?:</a:t>
            </a:r>
          </a:p>
          <a:p>
            <a:r>
              <a:rPr lang="en-US" b="1" dirty="0">
                <a:solidFill>
                  <a:schemeClr val="bg1"/>
                </a:solidFill>
                <a:latin typeface="Imprint MT Shadow" panose="04020605060303030202" pitchFamily="82" charset="0"/>
              </a:rPr>
              <a:t>  · To ensure flexibility in task breakdown and distribution across the team (Frontend, Backend, and AI).</a:t>
            </a:r>
          </a:p>
          <a:p>
            <a:r>
              <a:rPr lang="en-US" b="1" dirty="0">
                <a:solidFill>
                  <a:schemeClr val="bg1"/>
                </a:solidFill>
                <a:latin typeface="Imprint MT Shadow" panose="04020605060303030202" pitchFamily="82" charset="0"/>
              </a:rPr>
              <a:t>  · To maintain continuous progress tracking through regular meetings (Daily Standups) and task management via GitHub Projects.</a:t>
            </a:r>
          </a:p>
          <a:p>
            <a:r>
              <a:rPr lang="en-US" b="1" dirty="0">
                <a:solidFill>
                  <a:schemeClr val="bg1"/>
                </a:solidFill>
                <a:latin typeface="Imprint MT Shadow" panose="04020605060303030202" pitchFamily="82" charset="0"/>
              </a:rPr>
              <a:t>  · To facilitate the incremental development of system features, with periodic demonstrations (Demos) provided to supervisors to ensure the quality of the deliverables.</a:t>
            </a:r>
            <a:endParaRPr lang="ar-SA" dirty="0">
              <a:solidFill>
                <a:schemeClr val="bg1"/>
              </a:solidFill>
              <a:latin typeface="Imprint MT Shadow" panose="040206050603030302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6838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مربع نص 4">
            <a:extLst>
              <a:ext uri="{FF2B5EF4-FFF2-40B4-BE49-F238E27FC236}">
                <a16:creationId xmlns="" xmlns:a16="http://schemas.microsoft.com/office/drawing/2014/main" id="{90C39395-6CFF-75A8-4C90-78F4FA415C7B}"/>
              </a:ext>
            </a:extLst>
          </p:cNvPr>
          <p:cNvSpPr txBox="1"/>
          <p:nvPr/>
        </p:nvSpPr>
        <p:spPr>
          <a:xfrm>
            <a:off x="304800" y="375511"/>
            <a:ext cx="7975600" cy="138499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Imprint MT Shadow" panose="04020605060303030202" pitchFamily="82" charset="0"/>
              </a:rPr>
              <a:t>System Architecture:</a:t>
            </a:r>
          </a:p>
          <a:p>
            <a:endParaRPr lang="en-US" b="1" dirty="0">
              <a:solidFill>
                <a:schemeClr val="bg1"/>
              </a:solidFill>
              <a:latin typeface="Imprint MT Shadow" panose="04020605060303030202" pitchFamily="82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Imprint MT Shadow" panose="04020605060303030202" pitchFamily="82" charset="0"/>
              </a:rPr>
              <a:t>· Hybrid Layered-</a:t>
            </a:r>
            <a:r>
              <a:rPr lang="en-US" b="1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Microservice</a:t>
            </a:r>
            <a:r>
              <a:rPr lang="en-US" b="1" dirty="0">
                <a:solidFill>
                  <a:schemeClr val="bg1"/>
                </a:solidFill>
                <a:latin typeface="Imprint MT Shadow" panose="04020605060303030202" pitchFamily="82" charset="0"/>
              </a:rPr>
              <a:t> Architecture: A hybrid architecture that combines a multi-layered approach—used for the core and interfaces—with a </a:t>
            </a:r>
            <a:r>
              <a:rPr lang="en-US" b="1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microservices</a:t>
            </a:r>
            <a:r>
              <a:rPr lang="en-US" b="1" dirty="0">
                <a:solidFill>
                  <a:schemeClr val="bg1"/>
                </a:solidFill>
                <a:latin typeface="Imprint MT Shadow" panose="04020605060303030202" pitchFamily="82" charset="0"/>
              </a:rPr>
              <a:t>-based approach for text processing and artificial intelligence</a:t>
            </a:r>
            <a:r>
              <a:rPr lang="en-US" b="1" dirty="0" smtClean="0">
                <a:solidFill>
                  <a:schemeClr val="bg1"/>
                </a:solidFill>
                <a:latin typeface="Imprint MT Shadow" panose="04020605060303030202" pitchFamily="82" charset="0"/>
              </a:rPr>
              <a:t>.</a:t>
            </a:r>
            <a:endParaRPr lang="ar-SA" b="1" dirty="0" smtClean="0">
              <a:solidFill>
                <a:schemeClr val="bg1"/>
              </a:solidFill>
              <a:latin typeface="Imprint MT Shadow" panose="04020605060303030202" pitchFamily="82" charset="0"/>
            </a:endParaRPr>
          </a:p>
          <a:p>
            <a:endParaRPr lang="ar-SA" dirty="0">
              <a:solidFill>
                <a:schemeClr val="bg1"/>
              </a:solidFill>
              <a:latin typeface="Imprint MT Shadow" panose="04020605060303030202" pitchFamily="82" charset="0"/>
            </a:endParaRPr>
          </a:p>
        </p:txBody>
      </p:sp>
      <p:sp>
        <p:nvSpPr>
          <p:cNvPr id="9" name="مربع نص 8">
            <a:extLst>
              <a:ext uri="{FF2B5EF4-FFF2-40B4-BE49-F238E27FC236}">
                <a16:creationId xmlns="" xmlns:a16="http://schemas.microsoft.com/office/drawing/2014/main" id="{90C39395-6CFF-75A8-4C90-78F4FA415C7B}"/>
              </a:ext>
            </a:extLst>
          </p:cNvPr>
          <p:cNvSpPr txBox="1"/>
          <p:nvPr/>
        </p:nvSpPr>
        <p:spPr>
          <a:xfrm>
            <a:off x="304800" y="1760506"/>
            <a:ext cx="7975600" cy="246221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Imprint MT Shadow" panose="04020605060303030202" pitchFamily="82" charset="0"/>
              </a:rPr>
              <a:t>· </a:t>
            </a:r>
            <a:r>
              <a:rPr lang="en-US" b="1" dirty="0" smtClean="0">
                <a:solidFill>
                  <a:schemeClr val="bg1"/>
                </a:solidFill>
                <a:latin typeface="Imprint MT Shadow" panose="04020605060303030202" pitchFamily="82" charset="0"/>
              </a:rPr>
              <a:t>Why ? :</a:t>
            </a:r>
            <a:endParaRPr lang="en-US" b="1" dirty="0">
              <a:solidFill>
                <a:schemeClr val="bg1"/>
              </a:solidFill>
              <a:latin typeface="Imprint MT Shadow" panose="04020605060303030202" pitchFamily="82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Imprint MT Shadow" panose="04020605060303030202" pitchFamily="82" charset="0"/>
              </a:rPr>
              <a:t>  · Tenant Isolation and Data Security: Utilizing a "schema-per-tenant" architecture within the PostgreSQL database, combined with strict "Tenant ID" filters, to safeguard each company’s data and prevent any cross-tenant data leakage.</a:t>
            </a:r>
          </a:p>
          <a:p>
            <a:r>
              <a:rPr lang="en-US" b="1" dirty="0">
                <a:solidFill>
                  <a:schemeClr val="bg1"/>
                </a:solidFill>
                <a:latin typeface="Imprint MT Shadow" panose="04020605060303030202" pitchFamily="82" charset="0"/>
              </a:rPr>
              <a:t>  · AI Performance: Decoupling AI services into an independent </a:t>
            </a:r>
            <a:r>
              <a:rPr lang="en-US" b="1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microservice</a:t>
            </a:r>
            <a:r>
              <a:rPr lang="en-US" b="1" dirty="0">
                <a:solidFill>
                  <a:schemeClr val="bg1"/>
                </a:solidFill>
                <a:latin typeface="Imprint MT Shadow" panose="04020605060303030202" pitchFamily="82" charset="0"/>
              </a:rPr>
              <a:t> (built with </a:t>
            </a:r>
            <a:r>
              <a:rPr lang="en-US" b="1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FastAPI</a:t>
            </a:r>
            <a:r>
              <a:rPr lang="en-US" b="1" dirty="0">
                <a:solidFill>
                  <a:schemeClr val="bg1"/>
                </a:solidFill>
                <a:latin typeface="Imprint MT Shadow" panose="04020605060303030202" pitchFamily="82" charset="0"/>
              </a:rPr>
              <a:t> and models such as </a:t>
            </a:r>
            <a:r>
              <a:rPr lang="en-US" b="1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AraBERT</a:t>
            </a:r>
            <a:r>
              <a:rPr lang="en-US" b="1" dirty="0">
                <a:solidFill>
                  <a:schemeClr val="bg1"/>
                </a:solidFill>
                <a:latin typeface="Imprint MT Shadow" panose="04020605060303030202" pitchFamily="82" charset="0"/>
              </a:rPr>
              <a:t>/Jeff) ensures that text processing and complaint classification tasks do not compromise the speed or responsiveness of the core platform during periods of high load.</a:t>
            </a:r>
          </a:p>
          <a:p>
            <a:r>
              <a:rPr lang="en-US" b="1" dirty="0">
                <a:solidFill>
                  <a:schemeClr val="bg1"/>
                </a:solidFill>
                <a:latin typeface="Imprint MT Shadow" panose="04020605060303030202" pitchFamily="82" charset="0"/>
              </a:rPr>
              <a:t>  · Parallel Development: Enabling the backend (</a:t>
            </a:r>
            <a:r>
              <a:rPr lang="en-US" b="1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FastAPI</a:t>
            </a:r>
            <a:r>
              <a:rPr lang="en-US" b="1" dirty="0">
                <a:solidFill>
                  <a:schemeClr val="bg1"/>
                </a:solidFill>
                <a:latin typeface="Imprint MT Shadow" panose="04020605060303030202" pitchFamily="82" charset="0"/>
              </a:rPr>
              <a:t>), AI service, and frontend (React.js) teams to work concurrently without conflicts in the codebase.</a:t>
            </a:r>
          </a:p>
          <a:p>
            <a:r>
              <a:rPr lang="en-US" b="1" dirty="0">
                <a:solidFill>
                  <a:schemeClr val="bg1"/>
                </a:solidFill>
                <a:latin typeface="Imprint MT Shadow" panose="04020605060303030202" pitchFamily="82" charset="0"/>
              </a:rPr>
              <a:t>  · Responsive UI: Leveraging React.js and Tailwind CSS to deliver flexible, bilingual (Arabic/English) interfaces, featuring an interactive Kanban board for seamless complaint management.</a:t>
            </a:r>
            <a:endParaRPr lang="ar-SA" dirty="0">
              <a:solidFill>
                <a:schemeClr val="bg1"/>
              </a:solidFill>
              <a:latin typeface="Imprint MT Shadow" panose="040206050603030302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0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ربع نص 2">
            <a:extLst>
              <a:ext uri="{FF2B5EF4-FFF2-40B4-BE49-F238E27FC236}">
                <a16:creationId xmlns="" xmlns:a16="http://schemas.microsoft.com/office/drawing/2014/main" id="{98161C1C-A6FF-383F-1641-3561C53A9CE5}"/>
              </a:ext>
            </a:extLst>
          </p:cNvPr>
          <p:cNvSpPr txBox="1"/>
          <p:nvPr/>
        </p:nvSpPr>
        <p:spPr>
          <a:xfrm>
            <a:off x="889462" y="548639"/>
            <a:ext cx="3524596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GB" sz="3600" dirty="0">
                <a:solidFill>
                  <a:schemeClr val="bg1"/>
                </a:solidFill>
                <a:latin typeface="Imprint MT Shadow" panose="04020605060303030202" pitchFamily="82" charset="0"/>
              </a:rPr>
              <a:t>Gantt chart: </a:t>
            </a:r>
            <a:endParaRPr lang="ar-SA" sz="3600" dirty="0">
              <a:solidFill>
                <a:schemeClr val="bg1"/>
              </a:solidFill>
              <a:latin typeface="Imprint MT Shadow" panose="04020605060303030202" pitchFamily="82" charset="0"/>
            </a:endParaRPr>
          </a:p>
        </p:txBody>
      </p:sp>
      <p:pic>
        <p:nvPicPr>
          <p:cNvPr id="6" name="صورة 5" descr="PlantUML diagram">
            <a:extLst>
              <a:ext uri="{FF2B5EF4-FFF2-40B4-BE49-F238E27FC236}">
                <a16:creationId xmlns="" xmlns:a16="http://schemas.microsoft.com/office/drawing/2014/main" id="{249A5DD7-9AA6-5BE6-E15E-5962D87264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1993" y="1770611"/>
            <a:ext cx="9205993" cy="337288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86150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2"/>
          <p:cNvSpPr txBox="1">
            <a:spLocks noGrp="1"/>
          </p:cNvSpPr>
          <p:nvPr>
            <p:ph type="title"/>
          </p:nvPr>
        </p:nvSpPr>
        <p:spPr>
          <a:xfrm>
            <a:off x="621100" y="348725"/>
            <a:ext cx="7901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ar-SA" dirty="0">
                <a:solidFill>
                  <a:schemeClr val="bg1"/>
                </a:solidFill>
                <a:latin typeface="Imprint MT Shadow" panose="04020605060303030202" pitchFamily="82" charset="0"/>
              </a:rPr>
              <a:t>T</a:t>
            </a:r>
            <a:r>
              <a:rPr lang="en-US" dirty="0" err="1">
                <a:solidFill>
                  <a:schemeClr val="bg1"/>
                </a:solidFill>
                <a:latin typeface="Imprint MT Shadow" panose="04020605060303030202" pitchFamily="82" charset="0"/>
              </a:rPr>
              <a:t>echnolog</a:t>
            </a:r>
            <a:r>
              <a:rPr lang="en-GB" dirty="0">
                <a:solidFill>
                  <a:schemeClr val="bg1"/>
                </a:solidFill>
                <a:latin typeface="Imprint MT Shadow" panose="04020605060303030202" pitchFamily="82" charset="0"/>
              </a:rPr>
              <a:t>y</a:t>
            </a:r>
            <a:r>
              <a:rPr lang="ar-SA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Imprint MT Shadow" panose="04020605060303030202" pitchFamily="82" charset="0"/>
              </a:rPr>
              <a:t>Used</a:t>
            </a:r>
            <a:endParaRPr dirty="0">
              <a:solidFill>
                <a:schemeClr val="bg1"/>
              </a:solidFill>
              <a:latin typeface="Imprint MT Shadow" panose="04020605060303030202" pitchFamily="82" charset="0"/>
            </a:endParaRPr>
          </a:p>
        </p:txBody>
      </p:sp>
      <p:sp>
        <p:nvSpPr>
          <p:cNvPr id="314" name="Google Shape;314;p42"/>
          <p:cNvSpPr txBox="1">
            <a:spLocks noGrp="1"/>
          </p:cNvSpPr>
          <p:nvPr>
            <p:ph type="subTitle" idx="3"/>
          </p:nvPr>
        </p:nvSpPr>
        <p:spPr>
          <a:xfrm>
            <a:off x="936638" y="1560387"/>
            <a:ext cx="34374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ar-SA" dirty="0" err="1">
                <a:latin typeface="Imprint MT Shadow" panose="04020605060303030202" pitchFamily="82" charset="0"/>
              </a:rPr>
              <a:t>Frontend</a:t>
            </a:r>
            <a:endParaRPr dirty="0">
              <a:latin typeface="Imprint MT Shadow" panose="04020605060303030202" pitchFamily="82" charset="0"/>
            </a:endParaRPr>
          </a:p>
        </p:txBody>
      </p:sp>
      <p:sp>
        <p:nvSpPr>
          <p:cNvPr id="315" name="Google Shape;315;p42"/>
          <p:cNvSpPr txBox="1">
            <a:spLocks noGrp="1"/>
          </p:cNvSpPr>
          <p:nvPr>
            <p:ph type="subTitle" idx="1"/>
          </p:nvPr>
        </p:nvSpPr>
        <p:spPr>
          <a:xfrm>
            <a:off x="4769956" y="1556402"/>
            <a:ext cx="34374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ar-SA" dirty="0" err="1">
                <a:latin typeface="Imprint MT Shadow" panose="04020605060303030202" pitchFamily="82" charset="0"/>
              </a:rPr>
              <a:t>Backend</a:t>
            </a:r>
            <a:endParaRPr dirty="0">
              <a:latin typeface="Imprint MT Shadow" panose="04020605060303030202" pitchFamily="82" charset="0"/>
            </a:endParaRPr>
          </a:p>
        </p:txBody>
      </p:sp>
      <p:sp>
        <p:nvSpPr>
          <p:cNvPr id="316" name="Google Shape;316;p42"/>
          <p:cNvSpPr txBox="1">
            <a:spLocks noGrp="1"/>
          </p:cNvSpPr>
          <p:nvPr>
            <p:ph type="subTitle" idx="2"/>
          </p:nvPr>
        </p:nvSpPr>
        <p:spPr>
          <a:xfrm>
            <a:off x="4769956" y="2069495"/>
            <a:ext cx="3752844" cy="11606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Font typeface="Arial" panose="020B0604020202020204" pitchFamily="34" charset="0"/>
              <a:buChar char="•"/>
            </a:pPr>
            <a:r>
              <a:rPr lang="ar-SA" sz="1400" dirty="0" err="1">
                <a:latin typeface="Imprint MT Shadow" panose="04020605060303030202" pitchFamily="82" charset="0"/>
              </a:rPr>
              <a:t>Developed</a:t>
            </a:r>
            <a:r>
              <a:rPr lang="ar-SA" sz="1400" dirty="0">
                <a:latin typeface="Imprint MT Shadow" panose="04020605060303030202" pitchFamily="82" charset="0"/>
              </a:rPr>
              <a:t> </a:t>
            </a:r>
            <a:r>
              <a:rPr lang="ar-SA" sz="1400" dirty="0" err="1">
                <a:latin typeface="Imprint MT Shadow" panose="04020605060303030202" pitchFamily="82" charset="0"/>
              </a:rPr>
              <a:t>using</a:t>
            </a:r>
            <a:r>
              <a:rPr lang="ar-SA" sz="1400" dirty="0">
                <a:latin typeface="Imprint MT Shadow" panose="04020605060303030202" pitchFamily="82" charset="0"/>
              </a:rPr>
              <a:t> </a:t>
            </a:r>
            <a:r>
              <a:rPr lang="ar-SA" sz="1400" dirty="0" err="1">
                <a:latin typeface="Imprint MT Shadow" panose="04020605060303030202" pitchFamily="82" charset="0"/>
              </a:rPr>
              <a:t>Python</a:t>
            </a:r>
            <a:r>
              <a:rPr lang="ar-SA" sz="1400" dirty="0">
                <a:latin typeface="Imprint MT Shadow" panose="04020605060303030202" pitchFamily="82" charset="0"/>
              </a:rPr>
              <a:t> </a:t>
            </a:r>
            <a:r>
              <a:rPr lang="ar-SA" sz="1400" dirty="0" err="1">
                <a:latin typeface="Imprint MT Shadow" panose="04020605060303030202" pitchFamily="82" charset="0"/>
              </a:rPr>
              <a:t>and</a:t>
            </a:r>
            <a:r>
              <a:rPr lang="ar-SA" sz="1400" dirty="0">
                <a:latin typeface="Imprint MT Shadow" panose="04020605060303030202" pitchFamily="82" charset="0"/>
              </a:rPr>
              <a:t> </a:t>
            </a:r>
            <a:r>
              <a:rPr lang="ar-SA" sz="1400" dirty="0" err="1">
                <a:latin typeface="Imprint MT Shadow" panose="04020605060303030202" pitchFamily="82" charset="0"/>
              </a:rPr>
              <a:t>FastAPI</a:t>
            </a:r>
            <a:r>
              <a:rPr lang="ar-SA" sz="1400" dirty="0">
                <a:latin typeface="Imprint MT Shadow" panose="04020605060303030202" pitchFamily="82" charset="0"/>
              </a:rPr>
              <a:t> </a:t>
            </a:r>
            <a:r>
              <a:rPr lang="ar-SA" sz="1400" dirty="0" err="1">
                <a:latin typeface="Imprint MT Shadow" panose="04020605060303030202" pitchFamily="82" charset="0"/>
              </a:rPr>
              <a:t>to</a:t>
            </a:r>
            <a:r>
              <a:rPr lang="ar-SA" sz="1400" dirty="0">
                <a:latin typeface="Imprint MT Shadow" panose="04020605060303030202" pitchFamily="82" charset="0"/>
              </a:rPr>
              <a:t> </a:t>
            </a:r>
            <a:r>
              <a:rPr lang="ar-SA" sz="1400" dirty="0" err="1">
                <a:latin typeface="Imprint MT Shadow" panose="04020605060303030202" pitchFamily="82" charset="0"/>
              </a:rPr>
              <a:t>handle</a:t>
            </a:r>
            <a:r>
              <a:rPr lang="ar-SA" sz="1400" dirty="0">
                <a:latin typeface="Imprint MT Shadow" panose="04020605060303030202" pitchFamily="82" charset="0"/>
              </a:rPr>
              <a:t> </a:t>
            </a:r>
            <a:r>
              <a:rPr lang="ar-SA" sz="1400" dirty="0" err="1">
                <a:latin typeface="Imprint MT Shadow" panose="04020605060303030202" pitchFamily="82" charset="0"/>
              </a:rPr>
              <a:t>business</a:t>
            </a:r>
            <a:r>
              <a:rPr lang="ar-SA" sz="1400" dirty="0">
                <a:latin typeface="Imprint MT Shadow" panose="04020605060303030202" pitchFamily="82" charset="0"/>
              </a:rPr>
              <a:t> </a:t>
            </a:r>
            <a:r>
              <a:rPr lang="ar-SA" sz="1400" dirty="0" err="1">
                <a:latin typeface="Imprint MT Shadow" panose="04020605060303030202" pitchFamily="82" charset="0"/>
              </a:rPr>
              <a:t>logic</a:t>
            </a:r>
            <a:r>
              <a:rPr lang="ar-SA" sz="1400" dirty="0">
                <a:latin typeface="Imprint MT Shadow" panose="04020605060303030202" pitchFamily="82" charset="0"/>
              </a:rPr>
              <a:t>, </a:t>
            </a:r>
            <a:r>
              <a:rPr lang="ar-SA" sz="1400" dirty="0" err="1">
                <a:latin typeface="Imprint MT Shadow" panose="04020605060303030202" pitchFamily="82" charset="0"/>
              </a:rPr>
              <a:t>authentication</a:t>
            </a:r>
            <a:r>
              <a:rPr lang="ar-SA" sz="1400" dirty="0">
                <a:latin typeface="Imprint MT Shadow" panose="04020605060303030202" pitchFamily="82" charset="0"/>
              </a:rPr>
              <a:t>, </a:t>
            </a:r>
            <a:r>
              <a:rPr lang="ar-SA" sz="1400" dirty="0" err="1">
                <a:latin typeface="Imprint MT Shadow" panose="04020605060303030202" pitchFamily="82" charset="0"/>
              </a:rPr>
              <a:t>and</a:t>
            </a:r>
            <a:r>
              <a:rPr lang="ar-SA" sz="1400" dirty="0">
                <a:latin typeface="Imprint MT Shadow" panose="04020605060303030202" pitchFamily="82" charset="0"/>
              </a:rPr>
              <a:t> API </a:t>
            </a:r>
            <a:r>
              <a:rPr lang="ar-SA" sz="1400" dirty="0" err="1">
                <a:latin typeface="Imprint MT Shadow" panose="04020605060303030202" pitchFamily="82" charset="0"/>
              </a:rPr>
              <a:t>endpoints</a:t>
            </a:r>
            <a:r>
              <a:rPr lang="ar-SA" sz="1400" dirty="0">
                <a:latin typeface="Imprint MT Shadow" panose="04020605060303030202" pitchFamily="82" charset="0"/>
              </a:rPr>
              <a:t>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ar-SA" sz="1400" dirty="0" err="1">
                <a:latin typeface="Imprint MT Shadow" panose="04020605060303030202" pitchFamily="82" charset="0"/>
              </a:rPr>
              <a:t>Manages</a:t>
            </a:r>
            <a:r>
              <a:rPr lang="ar-SA" sz="1400" dirty="0">
                <a:latin typeface="Imprint MT Shadow" panose="04020605060303030202" pitchFamily="82" charset="0"/>
              </a:rPr>
              <a:t> </a:t>
            </a:r>
            <a:r>
              <a:rPr lang="ar-SA" sz="1400" dirty="0" err="1">
                <a:latin typeface="Imprint MT Shadow" panose="04020605060303030202" pitchFamily="82" charset="0"/>
              </a:rPr>
              <a:t>data</a:t>
            </a:r>
            <a:r>
              <a:rPr lang="ar-SA" sz="1400" dirty="0">
                <a:latin typeface="Imprint MT Shadow" panose="04020605060303030202" pitchFamily="82" charset="0"/>
              </a:rPr>
              <a:t> </a:t>
            </a:r>
            <a:r>
              <a:rPr lang="ar-SA" sz="1400" dirty="0" err="1">
                <a:latin typeface="Imprint MT Shadow" panose="04020605060303030202" pitchFamily="82" charset="0"/>
              </a:rPr>
              <a:t>isolation</a:t>
            </a:r>
            <a:r>
              <a:rPr lang="ar-SA" sz="1400" dirty="0">
                <a:latin typeface="Imprint MT Shadow" panose="04020605060303030202" pitchFamily="82" charset="0"/>
              </a:rPr>
              <a:t>, </a:t>
            </a:r>
            <a:r>
              <a:rPr lang="ar-SA" sz="1400" dirty="0" err="1">
                <a:latin typeface="Imprint MT Shadow" panose="04020605060303030202" pitchFamily="82" charset="0"/>
              </a:rPr>
              <a:t>permissions</a:t>
            </a:r>
            <a:r>
              <a:rPr lang="ar-SA" sz="1400" dirty="0">
                <a:latin typeface="Imprint MT Shadow" panose="04020605060303030202" pitchFamily="82" charset="0"/>
              </a:rPr>
              <a:t>, </a:t>
            </a:r>
            <a:r>
              <a:rPr lang="ar-SA" sz="1400" dirty="0" err="1">
                <a:latin typeface="Imprint MT Shadow" panose="04020605060303030202" pitchFamily="82" charset="0"/>
              </a:rPr>
              <a:t>and</a:t>
            </a:r>
            <a:r>
              <a:rPr lang="ar-SA" sz="1400" dirty="0">
                <a:latin typeface="Imprint MT Shadow" panose="04020605060303030202" pitchFamily="82" charset="0"/>
              </a:rPr>
              <a:t> </a:t>
            </a:r>
          </a:p>
        </p:txBody>
      </p:sp>
      <p:sp>
        <p:nvSpPr>
          <p:cNvPr id="317" name="Google Shape;317;p42"/>
          <p:cNvSpPr txBox="1">
            <a:spLocks noGrp="1"/>
          </p:cNvSpPr>
          <p:nvPr>
            <p:ph type="subTitle" idx="4"/>
          </p:nvPr>
        </p:nvSpPr>
        <p:spPr>
          <a:xfrm>
            <a:off x="758705" y="2024783"/>
            <a:ext cx="4011251" cy="11606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Font typeface="Arial" panose="020B0604020202020204" pitchFamily="34" charset="0"/>
              <a:buChar char="•"/>
            </a:pPr>
            <a:r>
              <a:rPr lang="ar-SA" sz="1400" dirty="0" err="1">
                <a:latin typeface="Imprint MT Shadow" panose="04020605060303030202" pitchFamily="82" charset="0"/>
              </a:rPr>
              <a:t>Built</a:t>
            </a:r>
            <a:r>
              <a:rPr lang="ar-SA" sz="1400" dirty="0">
                <a:latin typeface="Imprint MT Shadow" panose="04020605060303030202" pitchFamily="82" charset="0"/>
              </a:rPr>
              <a:t> </a:t>
            </a:r>
            <a:r>
              <a:rPr lang="ar-SA" sz="1400" dirty="0" err="1">
                <a:latin typeface="Imprint MT Shadow" panose="04020605060303030202" pitchFamily="82" charset="0"/>
              </a:rPr>
              <a:t>with</a:t>
            </a:r>
            <a:r>
              <a:rPr lang="ar-SA" sz="1400" dirty="0">
                <a:latin typeface="Imprint MT Shadow" panose="04020605060303030202" pitchFamily="82" charset="0"/>
              </a:rPr>
              <a:t> React.js </a:t>
            </a:r>
            <a:r>
              <a:rPr lang="ar-SA" sz="1400" dirty="0" err="1">
                <a:latin typeface="Imprint MT Shadow" panose="04020605060303030202" pitchFamily="82" charset="0"/>
              </a:rPr>
              <a:t>for</a:t>
            </a:r>
            <a:r>
              <a:rPr lang="ar-SA" sz="1400" dirty="0">
                <a:latin typeface="Imprint MT Shadow" panose="04020605060303030202" pitchFamily="82" charset="0"/>
              </a:rPr>
              <a:t> </a:t>
            </a:r>
            <a:r>
              <a:rPr lang="ar-SA" sz="1400" dirty="0" err="1">
                <a:latin typeface="Imprint MT Shadow" panose="04020605060303030202" pitchFamily="82" charset="0"/>
              </a:rPr>
              <a:t>interactive</a:t>
            </a:r>
            <a:r>
              <a:rPr lang="ar-SA" sz="1400" dirty="0">
                <a:latin typeface="Imprint MT Shadow" panose="04020605060303030202" pitchFamily="82" charset="0"/>
              </a:rPr>
              <a:t> </a:t>
            </a:r>
            <a:r>
              <a:rPr lang="ar-SA" sz="1400" dirty="0" err="1">
                <a:latin typeface="Imprint MT Shadow" panose="04020605060303030202" pitchFamily="82" charset="0"/>
              </a:rPr>
              <a:t>and</a:t>
            </a:r>
            <a:r>
              <a:rPr lang="ar-SA" sz="1400" dirty="0">
                <a:latin typeface="Imprint MT Shadow" panose="04020605060303030202" pitchFamily="82" charset="0"/>
              </a:rPr>
              <a:t> </a:t>
            </a:r>
            <a:r>
              <a:rPr lang="ar-SA" sz="1400" dirty="0" err="1">
                <a:latin typeface="Imprint MT Shadow" panose="04020605060303030202" pitchFamily="82" charset="0"/>
              </a:rPr>
              <a:t>responsive</a:t>
            </a:r>
            <a:r>
              <a:rPr lang="ar-SA" sz="1400" dirty="0">
                <a:latin typeface="Imprint MT Shadow" panose="04020605060303030202" pitchFamily="82" charset="0"/>
              </a:rPr>
              <a:t> </a:t>
            </a:r>
            <a:r>
              <a:rPr lang="ar-SA" sz="1400" dirty="0" err="1">
                <a:latin typeface="Imprint MT Shadow" panose="04020605060303030202" pitchFamily="82" charset="0"/>
              </a:rPr>
              <a:t>user</a:t>
            </a:r>
            <a:r>
              <a:rPr lang="ar-SA" sz="1400" dirty="0">
                <a:latin typeface="Imprint MT Shadow" panose="04020605060303030202" pitchFamily="82" charset="0"/>
              </a:rPr>
              <a:t> </a:t>
            </a:r>
            <a:r>
              <a:rPr lang="ar-SA" sz="1400" dirty="0" err="1">
                <a:latin typeface="Imprint MT Shadow" panose="04020605060303030202" pitchFamily="82" charset="0"/>
              </a:rPr>
              <a:t>interfaces</a:t>
            </a:r>
            <a:r>
              <a:rPr lang="ar-SA" sz="1400" dirty="0">
                <a:latin typeface="Imprint MT Shadow" panose="04020605060303030202" pitchFamily="82" charset="0"/>
              </a:rPr>
              <a:t>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ar-SA" sz="1400" dirty="0" err="1">
                <a:latin typeface="Imprint MT Shadow" panose="04020605060303030202" pitchFamily="82" charset="0"/>
              </a:rPr>
              <a:t>Styled</a:t>
            </a:r>
            <a:r>
              <a:rPr lang="ar-SA" sz="1400" dirty="0">
                <a:latin typeface="Imprint MT Shadow" panose="04020605060303030202" pitchFamily="82" charset="0"/>
              </a:rPr>
              <a:t> </a:t>
            </a:r>
            <a:r>
              <a:rPr lang="ar-SA" sz="1400" dirty="0" err="1">
                <a:latin typeface="Imprint MT Shadow" panose="04020605060303030202" pitchFamily="82" charset="0"/>
              </a:rPr>
              <a:t>using</a:t>
            </a:r>
            <a:r>
              <a:rPr lang="ar-SA" sz="1400" dirty="0">
                <a:latin typeface="Imprint MT Shadow" panose="04020605060303030202" pitchFamily="82" charset="0"/>
              </a:rPr>
              <a:t> </a:t>
            </a:r>
            <a:r>
              <a:rPr lang="ar-SA" sz="1400" dirty="0" err="1">
                <a:latin typeface="Imprint MT Shadow" panose="04020605060303030202" pitchFamily="82" charset="0"/>
              </a:rPr>
              <a:t>Tailwind</a:t>
            </a:r>
            <a:r>
              <a:rPr lang="ar-SA" sz="1400" dirty="0">
                <a:latin typeface="Imprint MT Shadow" panose="04020605060303030202" pitchFamily="82" charset="0"/>
              </a:rPr>
              <a:t> CSS.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ar-SA" sz="1400" dirty="0" err="1">
                <a:latin typeface="Imprint MT Shadow" panose="04020605060303030202" pitchFamily="82" charset="0"/>
              </a:rPr>
              <a:t>Features</a:t>
            </a:r>
            <a:r>
              <a:rPr lang="ar-SA" sz="1400" dirty="0">
                <a:latin typeface="Imprint MT Shadow" panose="04020605060303030202" pitchFamily="82" charset="0"/>
              </a:rPr>
              <a:t> </a:t>
            </a:r>
            <a:r>
              <a:rPr lang="ar-SA" sz="1400" dirty="0" err="1">
                <a:latin typeface="Imprint MT Shadow" panose="04020605060303030202" pitchFamily="82" charset="0"/>
              </a:rPr>
              <a:t>an</a:t>
            </a:r>
            <a:r>
              <a:rPr lang="ar-SA" sz="1400" dirty="0">
                <a:latin typeface="Imprint MT Shadow" panose="04020605060303030202" pitchFamily="82" charset="0"/>
              </a:rPr>
              <a:t> </a:t>
            </a:r>
            <a:r>
              <a:rPr lang="ar-SA" sz="1400" dirty="0" err="1">
                <a:latin typeface="Imprint MT Shadow" panose="04020605060303030202" pitchFamily="82" charset="0"/>
              </a:rPr>
              <a:t>interactive</a:t>
            </a:r>
            <a:r>
              <a:rPr lang="ar-SA" sz="1400" dirty="0">
                <a:latin typeface="Imprint MT Shadow" panose="04020605060303030202" pitchFamily="82" charset="0"/>
              </a:rPr>
              <a:t> </a:t>
            </a:r>
            <a:r>
              <a:rPr lang="ar-SA" sz="1400" dirty="0" err="1">
                <a:latin typeface="Imprint MT Shadow" panose="04020605060303030202" pitchFamily="82" charset="0"/>
              </a:rPr>
              <a:t>Kanban</a:t>
            </a:r>
            <a:r>
              <a:rPr lang="ar-SA" sz="1400" dirty="0">
                <a:latin typeface="Imprint MT Shadow" panose="04020605060303030202" pitchFamily="82" charset="0"/>
              </a:rPr>
              <a:t> </a:t>
            </a:r>
            <a:r>
              <a:rPr lang="ar-SA" sz="1400" dirty="0" err="1">
                <a:latin typeface="Imprint MT Shadow" panose="04020605060303030202" pitchFamily="82" charset="0"/>
              </a:rPr>
              <a:t>Board</a:t>
            </a:r>
            <a:r>
              <a:rPr lang="ar-SA" sz="1400" dirty="0">
                <a:latin typeface="Imprint MT Shadow" panose="04020605060303030202" pitchFamily="82" charset="0"/>
              </a:rPr>
              <a:t> </a:t>
            </a:r>
            <a:r>
              <a:rPr lang="ar-SA" sz="1400" dirty="0" err="1">
                <a:latin typeface="Imprint MT Shadow" panose="04020605060303030202" pitchFamily="82" charset="0"/>
              </a:rPr>
              <a:t>for</a:t>
            </a:r>
            <a:r>
              <a:rPr lang="ar-SA" sz="1400" dirty="0">
                <a:latin typeface="Imprint MT Shadow" panose="04020605060303030202" pitchFamily="82" charset="0"/>
              </a:rPr>
              <a:t> </a:t>
            </a:r>
            <a:r>
              <a:rPr lang="ar-SA" sz="1400" dirty="0" err="1">
                <a:latin typeface="Imprint MT Shadow" panose="04020605060303030202" pitchFamily="82" charset="0"/>
              </a:rPr>
              <a:t>complaint</a:t>
            </a:r>
            <a:r>
              <a:rPr lang="ar-SA" sz="1400" dirty="0">
                <a:latin typeface="Imprint MT Shadow" panose="04020605060303030202" pitchFamily="82" charset="0"/>
              </a:rPr>
              <a:t> </a:t>
            </a:r>
            <a:r>
              <a:rPr lang="ar-SA" sz="1400" dirty="0" err="1">
                <a:latin typeface="Imprint MT Shadow" panose="04020605060303030202" pitchFamily="82" charset="0"/>
              </a:rPr>
              <a:t>tracking</a:t>
            </a:r>
            <a:r>
              <a:rPr lang="ar-SA" sz="1400" dirty="0">
                <a:latin typeface="Imprint MT Shadow" panose="04020605060303030202" pitchFamily="82" charset="0"/>
              </a:rPr>
              <a:t>.</a:t>
            </a:r>
          </a:p>
        </p:txBody>
      </p:sp>
      <p:sp>
        <p:nvSpPr>
          <p:cNvPr id="318" name="Google Shape;318;p42"/>
          <p:cNvSpPr txBox="1">
            <a:spLocks noGrp="1"/>
          </p:cNvSpPr>
          <p:nvPr>
            <p:ph type="subTitle" idx="5"/>
          </p:nvPr>
        </p:nvSpPr>
        <p:spPr>
          <a:xfrm>
            <a:off x="4769956" y="3365174"/>
            <a:ext cx="3752844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ar-SA" dirty="0" err="1">
                <a:latin typeface="Imprint MT Shadow" panose="04020605060303030202" pitchFamily="82" charset="0"/>
              </a:rPr>
              <a:t>Database</a:t>
            </a:r>
            <a:r>
              <a:rPr lang="ar-SA" dirty="0">
                <a:latin typeface="Imprint MT Shadow" panose="04020605060303030202" pitchFamily="82" charset="0"/>
              </a:rPr>
              <a:t> &amp; </a:t>
            </a:r>
            <a:r>
              <a:rPr lang="ar-SA" dirty="0" err="1">
                <a:latin typeface="Imprint MT Shadow" panose="04020605060303030202" pitchFamily="82" charset="0"/>
              </a:rPr>
              <a:t>Multi-Tenancy</a:t>
            </a:r>
            <a:endParaRPr dirty="0">
              <a:latin typeface="Imprint MT Shadow" panose="04020605060303030202" pitchFamily="82" charset="0"/>
            </a:endParaRPr>
          </a:p>
        </p:txBody>
      </p:sp>
      <p:sp>
        <p:nvSpPr>
          <p:cNvPr id="319" name="Google Shape;319;p42"/>
          <p:cNvSpPr txBox="1">
            <a:spLocks noGrp="1"/>
          </p:cNvSpPr>
          <p:nvPr>
            <p:ph type="subTitle" idx="6"/>
          </p:nvPr>
        </p:nvSpPr>
        <p:spPr>
          <a:xfrm>
            <a:off x="4546643" y="3804370"/>
            <a:ext cx="4199470" cy="9375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Font typeface="Arial" panose="020B0604020202020204" pitchFamily="34" charset="0"/>
              <a:buChar char="•"/>
            </a:pPr>
            <a:r>
              <a:rPr lang="ar-SA" dirty="0" err="1">
                <a:latin typeface="Imprint MT Shadow" panose="04020605060303030202" pitchFamily="82" charset="0"/>
              </a:rPr>
              <a:t>Powered</a:t>
            </a:r>
            <a:r>
              <a:rPr lang="ar-SA" dirty="0">
                <a:latin typeface="Imprint MT Shadow" panose="04020605060303030202" pitchFamily="82" charset="0"/>
              </a:rPr>
              <a:t> </a:t>
            </a:r>
            <a:r>
              <a:rPr lang="ar-SA" dirty="0" err="1">
                <a:latin typeface="Imprint MT Shadow" panose="04020605060303030202" pitchFamily="82" charset="0"/>
              </a:rPr>
              <a:t>by</a:t>
            </a:r>
            <a:r>
              <a:rPr lang="ar-SA" dirty="0">
                <a:latin typeface="Imprint MT Shadow" panose="04020605060303030202" pitchFamily="82" charset="0"/>
              </a:rPr>
              <a:t> </a:t>
            </a:r>
            <a:r>
              <a:rPr lang="ar-SA" dirty="0" err="1">
                <a:latin typeface="Imprint MT Shadow" panose="04020605060303030202" pitchFamily="82" charset="0"/>
              </a:rPr>
              <a:t>PostgreSQL</a:t>
            </a:r>
            <a:r>
              <a:rPr lang="ar-SA" dirty="0">
                <a:latin typeface="Imprint MT Shadow" panose="04020605060303030202" pitchFamily="82" charset="0"/>
              </a:rPr>
              <a:t>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ar-SA" dirty="0" err="1">
                <a:latin typeface="Imprint MT Shadow" panose="04020605060303030202" pitchFamily="82" charset="0"/>
              </a:rPr>
              <a:t>Implements</a:t>
            </a:r>
            <a:r>
              <a:rPr lang="ar-SA" dirty="0">
                <a:latin typeface="Imprint MT Shadow" panose="04020605060303030202" pitchFamily="82" charset="0"/>
              </a:rPr>
              <a:t> </a:t>
            </a:r>
            <a:r>
              <a:rPr lang="ar-SA" dirty="0" err="1">
                <a:latin typeface="Imprint MT Shadow" panose="04020605060303030202" pitchFamily="82" charset="0"/>
              </a:rPr>
              <a:t>Schema-per-Tenant</a:t>
            </a:r>
            <a:r>
              <a:rPr lang="ar-SA" dirty="0">
                <a:latin typeface="Imprint MT Shadow" panose="04020605060303030202" pitchFamily="82" charset="0"/>
              </a:rPr>
              <a:t> </a:t>
            </a:r>
            <a:r>
              <a:rPr lang="ar-SA" dirty="0" err="1">
                <a:latin typeface="Imprint MT Shadow" panose="04020605060303030202" pitchFamily="82" charset="0"/>
              </a:rPr>
              <a:t>isolation</a:t>
            </a:r>
            <a:r>
              <a:rPr lang="ar-SA" dirty="0">
                <a:latin typeface="Imprint MT Shadow" panose="04020605060303030202" pitchFamily="82" charset="0"/>
              </a:rPr>
              <a:t> </a:t>
            </a:r>
            <a:r>
              <a:rPr lang="ar-SA" dirty="0" err="1">
                <a:latin typeface="Imprint MT Shadow" panose="04020605060303030202" pitchFamily="82" charset="0"/>
              </a:rPr>
              <a:t>combined</a:t>
            </a:r>
            <a:r>
              <a:rPr lang="ar-SA" dirty="0">
                <a:latin typeface="Imprint MT Shadow" panose="04020605060303030202" pitchFamily="82" charset="0"/>
              </a:rPr>
              <a:t> </a:t>
            </a:r>
            <a:r>
              <a:rPr lang="ar-SA" dirty="0" err="1">
                <a:latin typeface="Imprint MT Shadow" panose="04020605060303030202" pitchFamily="82" charset="0"/>
              </a:rPr>
              <a:t>with</a:t>
            </a:r>
            <a:r>
              <a:rPr lang="ar-SA" dirty="0">
                <a:latin typeface="Imprint MT Shadow" panose="04020605060303030202" pitchFamily="82" charset="0"/>
              </a:rPr>
              <a:t> a </a:t>
            </a:r>
            <a:r>
              <a:rPr lang="ar-SA" dirty="0" err="1">
                <a:latin typeface="Imprint MT Shadow" panose="04020605060303030202" pitchFamily="82" charset="0"/>
              </a:rPr>
              <a:t>strict</a:t>
            </a:r>
            <a:r>
              <a:rPr lang="ar-SA" dirty="0">
                <a:latin typeface="Imprint MT Shadow" panose="04020605060303030202" pitchFamily="82" charset="0"/>
              </a:rPr>
              <a:t> </a:t>
            </a:r>
            <a:r>
              <a:rPr lang="ar-SA" dirty="0" err="1">
                <a:latin typeface="Imprint MT Shadow" panose="04020605060303030202" pitchFamily="82" charset="0"/>
              </a:rPr>
              <a:t>Tenant</a:t>
            </a:r>
            <a:r>
              <a:rPr lang="ar-SA" dirty="0">
                <a:latin typeface="Imprint MT Shadow" panose="04020605060303030202" pitchFamily="82" charset="0"/>
              </a:rPr>
              <a:t> ID </a:t>
            </a:r>
            <a:r>
              <a:rPr lang="ar-SA" dirty="0" err="1">
                <a:latin typeface="Imprint MT Shadow" panose="04020605060303030202" pitchFamily="82" charset="0"/>
              </a:rPr>
              <a:t>Filter</a:t>
            </a:r>
            <a:r>
              <a:rPr lang="ar-SA" dirty="0">
                <a:latin typeface="Imprint MT Shadow" panose="04020605060303030202" pitchFamily="82" charset="0"/>
              </a:rPr>
              <a:t>. </a:t>
            </a:r>
          </a:p>
        </p:txBody>
      </p:sp>
      <p:sp>
        <p:nvSpPr>
          <p:cNvPr id="320" name="Google Shape;320;p42"/>
          <p:cNvSpPr txBox="1">
            <a:spLocks noGrp="1"/>
          </p:cNvSpPr>
          <p:nvPr>
            <p:ph type="subTitle" idx="7"/>
          </p:nvPr>
        </p:nvSpPr>
        <p:spPr>
          <a:xfrm>
            <a:off x="936638" y="3330046"/>
            <a:ext cx="34374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ar-SA" dirty="0">
                <a:latin typeface="Imprint MT Shadow" panose="04020605060303030202" pitchFamily="82" charset="0"/>
              </a:rPr>
              <a:t>AI &amp; NLP </a:t>
            </a:r>
            <a:r>
              <a:rPr lang="ar-SA" dirty="0" err="1">
                <a:latin typeface="Imprint MT Shadow" panose="04020605060303030202" pitchFamily="82" charset="0"/>
              </a:rPr>
              <a:t>Models</a:t>
            </a:r>
            <a:endParaRPr dirty="0">
              <a:latin typeface="Imprint MT Shadow" panose="04020605060303030202" pitchFamily="82" charset="0"/>
            </a:endParaRPr>
          </a:p>
        </p:txBody>
      </p:sp>
      <p:sp>
        <p:nvSpPr>
          <p:cNvPr id="321" name="Google Shape;321;p42"/>
          <p:cNvSpPr txBox="1">
            <a:spLocks noGrp="1"/>
          </p:cNvSpPr>
          <p:nvPr>
            <p:ph type="subTitle" idx="8"/>
          </p:nvPr>
        </p:nvSpPr>
        <p:spPr>
          <a:xfrm>
            <a:off x="191562" y="3804370"/>
            <a:ext cx="4435184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Font typeface="Arial" panose="020B0604020202020204" pitchFamily="34" charset="0"/>
              <a:buChar char="•"/>
            </a:pPr>
            <a:r>
              <a:rPr lang="ar-SA" sz="1400" dirty="0" err="1">
                <a:latin typeface="Imprint MT Shadow" panose="04020605060303030202" pitchFamily="82" charset="0"/>
              </a:rPr>
              <a:t>Independent</a:t>
            </a:r>
            <a:r>
              <a:rPr lang="ar-SA" sz="1400" dirty="0">
                <a:latin typeface="Imprint MT Shadow" panose="04020605060303030202" pitchFamily="82" charset="0"/>
              </a:rPr>
              <a:t> AI </a:t>
            </a:r>
            <a:r>
              <a:rPr lang="ar-SA" sz="1400" dirty="0" err="1">
                <a:latin typeface="Imprint MT Shadow" panose="04020605060303030202" pitchFamily="82" charset="0"/>
              </a:rPr>
              <a:t>Microservice</a:t>
            </a:r>
            <a:r>
              <a:rPr lang="ar-SA" sz="1400" dirty="0">
                <a:latin typeface="Imprint MT Shadow" panose="04020605060303030202" pitchFamily="82" charset="0"/>
              </a:rPr>
              <a:t> </a:t>
            </a:r>
            <a:r>
              <a:rPr lang="ar-SA" sz="1400" dirty="0" err="1">
                <a:latin typeface="Imprint MT Shadow" panose="04020605060303030202" pitchFamily="82" charset="0"/>
              </a:rPr>
              <a:t>built</a:t>
            </a:r>
            <a:r>
              <a:rPr lang="ar-SA" sz="1400" dirty="0">
                <a:latin typeface="Imprint MT Shadow" panose="04020605060303030202" pitchFamily="82" charset="0"/>
              </a:rPr>
              <a:t> </a:t>
            </a:r>
            <a:r>
              <a:rPr lang="ar-SA" sz="1400" dirty="0" err="1">
                <a:latin typeface="Imprint MT Shadow" panose="04020605060303030202" pitchFamily="82" charset="0"/>
              </a:rPr>
              <a:t>with</a:t>
            </a:r>
            <a:r>
              <a:rPr lang="ar-SA" sz="1400" dirty="0">
                <a:latin typeface="Imprint MT Shadow" panose="04020605060303030202" pitchFamily="82" charset="0"/>
              </a:rPr>
              <a:t> </a:t>
            </a:r>
            <a:r>
              <a:rPr lang="ar-SA" sz="1400" dirty="0" err="1">
                <a:latin typeface="Imprint MT Shadow" panose="04020605060303030202" pitchFamily="82" charset="0"/>
              </a:rPr>
              <a:t>FastAPI</a:t>
            </a:r>
            <a:r>
              <a:rPr lang="ar-SA" sz="1400" dirty="0">
                <a:latin typeface="Imprint MT Shadow" panose="04020605060303030202" pitchFamily="82" charset="0"/>
              </a:rPr>
              <a:t>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ar-SA" sz="1400" dirty="0" err="1">
                <a:latin typeface="Imprint MT Shadow" panose="04020605060303030202" pitchFamily="82" charset="0"/>
              </a:rPr>
              <a:t>Utilizes</a:t>
            </a:r>
            <a:r>
              <a:rPr lang="ar-SA" sz="1400" dirty="0">
                <a:latin typeface="Imprint MT Shadow" panose="04020605060303030202" pitchFamily="82" charset="0"/>
              </a:rPr>
              <a:t> </a:t>
            </a:r>
            <a:r>
              <a:rPr lang="ar-SA" sz="1400" dirty="0" err="1">
                <a:latin typeface="Imprint MT Shadow" panose="04020605060303030202" pitchFamily="82" charset="0"/>
              </a:rPr>
              <a:t>AraBERT</a:t>
            </a:r>
            <a:r>
              <a:rPr lang="ar-SA" sz="1400" dirty="0">
                <a:latin typeface="Imprint MT Shadow" panose="04020605060303030202" pitchFamily="82" charset="0"/>
              </a:rPr>
              <a:t> </a:t>
            </a:r>
            <a:r>
              <a:rPr lang="ar-SA" sz="1400" dirty="0" err="1">
                <a:latin typeface="Imprint MT Shadow" panose="04020605060303030202" pitchFamily="82" charset="0"/>
              </a:rPr>
              <a:t>for</a:t>
            </a:r>
            <a:r>
              <a:rPr lang="ar-SA" sz="1400" dirty="0">
                <a:latin typeface="Imprint MT Shadow" panose="04020605060303030202" pitchFamily="82" charset="0"/>
              </a:rPr>
              <a:t> </a:t>
            </a:r>
            <a:r>
              <a:rPr lang="ar-SA" sz="1400" dirty="0" err="1">
                <a:latin typeface="Imprint MT Shadow" panose="04020605060303030202" pitchFamily="82" charset="0"/>
              </a:rPr>
              <a:t>automated</a:t>
            </a:r>
            <a:r>
              <a:rPr lang="ar-SA" sz="1400" dirty="0">
                <a:latin typeface="Imprint MT Shadow" panose="04020605060303030202" pitchFamily="82" charset="0"/>
              </a:rPr>
              <a:t> </a:t>
            </a:r>
            <a:r>
              <a:rPr lang="ar-SA" sz="1400" dirty="0" err="1">
                <a:latin typeface="Imprint MT Shadow" panose="04020605060303030202" pitchFamily="82" charset="0"/>
              </a:rPr>
              <a:t>Arabic</a:t>
            </a:r>
            <a:r>
              <a:rPr lang="ar-SA" sz="1400" dirty="0">
                <a:latin typeface="Imprint MT Shadow" panose="04020605060303030202" pitchFamily="82" charset="0"/>
              </a:rPr>
              <a:t> </a:t>
            </a:r>
            <a:r>
              <a:rPr lang="ar-SA" sz="1400" dirty="0" err="1">
                <a:latin typeface="Imprint MT Shadow" panose="04020605060303030202" pitchFamily="82" charset="0"/>
              </a:rPr>
              <a:t>text</a:t>
            </a:r>
            <a:r>
              <a:rPr lang="ar-SA" sz="1400" dirty="0">
                <a:latin typeface="Imprint MT Shadow" panose="04020605060303030202" pitchFamily="82" charset="0"/>
              </a:rPr>
              <a:t> </a:t>
            </a:r>
            <a:r>
              <a:rPr lang="ar-SA" sz="1400" dirty="0" err="1">
                <a:latin typeface="Imprint MT Shadow" panose="04020605060303030202" pitchFamily="82" charset="0"/>
              </a:rPr>
              <a:t>classification</a:t>
            </a:r>
            <a:r>
              <a:rPr lang="ar-SA" sz="1400" dirty="0">
                <a:latin typeface="Imprint MT Shadow" panose="04020605060303030202" pitchFamily="82" charset="0"/>
              </a:rPr>
              <a:t>, </a:t>
            </a:r>
            <a:r>
              <a:rPr lang="ar-SA" sz="1400" dirty="0" err="1">
                <a:latin typeface="Imprint MT Shadow" panose="04020605060303030202" pitchFamily="82" charset="0"/>
              </a:rPr>
              <a:t>department</a:t>
            </a:r>
            <a:r>
              <a:rPr lang="ar-SA" sz="1400" dirty="0">
                <a:latin typeface="Imprint MT Shadow" panose="04020605060303030202" pitchFamily="82" charset="0"/>
              </a:rPr>
              <a:t> </a:t>
            </a:r>
            <a:r>
              <a:rPr lang="ar-SA" sz="1400" dirty="0" err="1">
                <a:latin typeface="Imprint MT Shadow" panose="04020605060303030202" pitchFamily="82" charset="0"/>
              </a:rPr>
              <a:t>routing</a:t>
            </a:r>
            <a:r>
              <a:rPr lang="ar-SA" sz="1400" dirty="0">
                <a:latin typeface="Imprint MT Shadow" panose="04020605060303030202" pitchFamily="82" charset="0"/>
              </a:rPr>
              <a:t>, </a:t>
            </a:r>
            <a:r>
              <a:rPr lang="ar-SA" sz="1400" dirty="0" err="1">
                <a:latin typeface="Imprint MT Shadow" panose="04020605060303030202" pitchFamily="82" charset="0"/>
              </a:rPr>
              <a:t>and</a:t>
            </a:r>
            <a:r>
              <a:rPr lang="ar-SA" sz="1400" dirty="0">
                <a:latin typeface="Imprint MT Shadow" panose="04020605060303030202" pitchFamily="82" charset="0"/>
              </a:rPr>
              <a:t> </a:t>
            </a:r>
            <a:r>
              <a:rPr lang="ar-SA" sz="1400" dirty="0" err="1">
                <a:latin typeface="Imprint MT Shadow" panose="04020605060303030202" pitchFamily="82" charset="0"/>
              </a:rPr>
              <a:t>priority</a:t>
            </a:r>
            <a:r>
              <a:rPr lang="ar-SA" sz="1400" dirty="0">
                <a:latin typeface="Imprint MT Shadow" panose="04020605060303030202" pitchFamily="82" charset="0"/>
              </a:rPr>
              <a:t> </a:t>
            </a:r>
            <a:r>
              <a:rPr lang="ar-SA" sz="1400" dirty="0" err="1">
                <a:latin typeface="Imprint MT Shadow" panose="04020605060303030202" pitchFamily="82" charset="0"/>
              </a:rPr>
              <a:t>assessment</a:t>
            </a:r>
            <a:r>
              <a:rPr lang="ar-SA" sz="1400" dirty="0">
                <a:latin typeface="Imprint MT Shadow" panose="04020605060303030202" pitchFamily="82" charset="0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8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مربع نص 1">
            <a:extLst>
              <a:ext uri="{FF2B5EF4-FFF2-40B4-BE49-F238E27FC236}">
                <a16:creationId xmlns="" xmlns:a16="http://schemas.microsoft.com/office/drawing/2014/main" id="{5A45C2F0-24A8-B9FE-45CA-FC859625CEAA}"/>
              </a:ext>
            </a:extLst>
          </p:cNvPr>
          <p:cNvSpPr txBox="1"/>
          <p:nvPr/>
        </p:nvSpPr>
        <p:spPr>
          <a:xfrm>
            <a:off x="2460567" y="1935957"/>
            <a:ext cx="4125971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" sz="4000" b="1" dirty="0">
                <a:solidFill>
                  <a:schemeClr val="bg1"/>
                </a:solidFill>
                <a:latin typeface="Imprint MT Shadow" panose="04020605060303030202" pitchFamily="82" charset="0"/>
              </a:rPr>
              <a:t>Thanks</a:t>
            </a:r>
            <a:r>
              <a:rPr lang="ar-SA" sz="4000" b="1" dirty="0">
                <a:solidFill>
                  <a:schemeClr val="bg1"/>
                </a:solidFill>
                <a:latin typeface="Imprint MT Shadow" panose="04020605060303030202" pitchFamily="82" charset="0"/>
              </a:rPr>
              <a:t> </a:t>
            </a:r>
            <a:r>
              <a:rPr lang="en-GB" sz="4000" b="1" dirty="0">
                <a:solidFill>
                  <a:schemeClr val="bg1"/>
                </a:solidFill>
                <a:latin typeface="Imprint MT Shadow" panose="04020605060303030202" pitchFamily="82" charset="0"/>
              </a:rPr>
              <a:t> you</a:t>
            </a:r>
            <a:endParaRPr lang="ar-SA" sz="4000" b="1" dirty="0">
              <a:solidFill>
                <a:schemeClr val="bg1"/>
              </a:solidFill>
              <a:latin typeface="Imprint MT Shadow" panose="04020605060303030202" pitchFamily="8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ustomer Development Process Consulting Toolkit by Slidesgo">
  <a:themeElements>
    <a:clrScheme name="Simple Light">
      <a:dk1>
        <a:srgbClr val="282555"/>
      </a:dk1>
      <a:lt1>
        <a:srgbClr val="FFFFFF"/>
      </a:lt1>
      <a:dk2>
        <a:srgbClr val="FFFFFF"/>
      </a:dk2>
      <a:lt2>
        <a:srgbClr val="FFFFFF"/>
      </a:lt2>
      <a:accent1>
        <a:srgbClr val="434A99"/>
      </a:accent1>
      <a:accent2>
        <a:srgbClr val="952529"/>
      </a:accent2>
      <a:accent3>
        <a:srgbClr val="EFC46A"/>
      </a:accent3>
      <a:accent4>
        <a:srgbClr val="89C8E1"/>
      </a:accent4>
      <a:accent5>
        <a:srgbClr val="DBE1F1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913</Words>
  <Application>Microsoft Office PowerPoint</Application>
  <PresentationFormat>عرض على الشاشة (9:16)‏</PresentationFormat>
  <Paragraphs>158</Paragraphs>
  <Slides>14</Slides>
  <Notes>11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6</vt:i4>
      </vt:variant>
      <vt:variant>
        <vt:lpstr>نسق</vt:lpstr>
      </vt:variant>
      <vt:variant>
        <vt:i4>2</vt:i4>
      </vt:variant>
      <vt:variant>
        <vt:lpstr>عناوين الشرائح</vt:lpstr>
      </vt:variant>
      <vt:variant>
        <vt:i4>14</vt:i4>
      </vt:variant>
    </vt:vector>
  </HeadingPairs>
  <TitlesOfParts>
    <vt:vector size="22" baseType="lpstr">
      <vt:lpstr>Calibri</vt:lpstr>
      <vt:lpstr>Proxima Nova Semibold</vt:lpstr>
      <vt:lpstr>Imprint MT Shadow</vt:lpstr>
      <vt:lpstr>Arial</vt:lpstr>
      <vt:lpstr>Baloo Paaji 2</vt:lpstr>
      <vt:lpstr>Proxima Nova</vt:lpstr>
      <vt:lpstr>Customer Development Process Consulting Toolkit by Slidesgo</vt:lpstr>
      <vt:lpstr>Slidesgo Final Pages</vt:lpstr>
      <vt:lpstr>عرض تقديمي في PowerPoint</vt:lpstr>
      <vt:lpstr>Introduction</vt:lpstr>
      <vt:lpstr>عرض تقديمي في PowerPoint</vt:lpstr>
      <vt:lpstr>How We Plan To Solve It</vt:lpstr>
      <vt:lpstr>Proposed Solution</vt:lpstr>
      <vt:lpstr>Reference Study Comparative Table :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Technology Used</vt:lpstr>
      <vt:lpstr>عرض تقديمي في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creator>lenovo</dc:creator>
  <cp:lastModifiedBy>حساب Microsoft</cp:lastModifiedBy>
  <cp:revision>18</cp:revision>
  <dcterms:modified xsi:type="dcterms:W3CDTF">2026-10-28T16:08:55Z</dcterms:modified>
</cp:coreProperties>
</file>